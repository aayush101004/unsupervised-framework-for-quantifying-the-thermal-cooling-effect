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2" /><Relationship Type="http://schemas.openxmlformats.org/package/2006/relationships/metadata/core-properties" Target="/docProps/core.xml" Id="rId3" /><Relationship Type="http://schemas.openxmlformats.org/officeDocument/2006/relationships/custom-properties" Target="/docProps/custom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viewProps" Target="/ppt/viewProps.xml" Id="rId3" /><Relationship Type="http://schemas.openxmlformats.org/officeDocument/2006/relationships/presProps" Target="/ppt/presProps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slide" Target="/ppt/slides/slide13.xml" Id="rId18" /><Relationship Type="http://schemas.openxmlformats.org/officeDocument/2006/relationships/slide" Target="/ppt/slides/slide14.xml" Id="rId19" /><Relationship Type="http://schemas.openxmlformats.org/officeDocument/2006/relationships/slide" Target="/ppt/slides/slide15.xml" Id="rId20" /><Relationship Type="http://schemas.openxmlformats.org/officeDocument/2006/relationships/slide" Target="/ppt/slides/slide16.xml" Id="rId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rgbClr val="27242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5.xml" Id="rId5" /><Relationship Type="http://schemas.openxmlformats.org/officeDocument/2006/relationships/theme" Target="/ppt/theme/theme1.xml" Id="rId6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344" y="368038"/>
            <a:ext cx="6736715" cy="44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4517" y="2385961"/>
            <a:ext cx="16247744" cy="6661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rgbClr val="27242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1.png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2.png" Id="rId2" /><Relationship Type="http://schemas.openxmlformats.org/officeDocument/2006/relationships/image" Target="/ppt/media/image3.png" Id="rI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4.png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5.png" Id="rI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6.png" Id="rI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7.png" Id="rId2" /><Relationship Type="http://schemas.openxmlformats.org/officeDocument/2006/relationships/image" Target="/ppt/media/image8.png" Id="rI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Relationship Type="http://schemas.openxmlformats.org/officeDocument/2006/relationships/image" Target="/ppt/media/image9.png" Id="rId2" /><Relationship Type="http://schemas.openxmlformats.org/officeDocument/2006/relationships/image" Target="/ppt/media/image10.png" Id="rId3" /><Relationship Type="http://schemas.openxmlformats.org/officeDocument/2006/relationships/image" Target="/ppt/media/image11.png" Id="rId4" /><Relationship Type="http://schemas.openxmlformats.org/officeDocument/2006/relationships/image" Target="/ppt/media/image12.png" Id="rId5" /><Relationship Type="http://schemas.openxmlformats.org/officeDocument/2006/relationships/image" Target="/ppt/media/image13.png" Id="rI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14.png" Id="rI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15.png" Id="rI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16.png" Id="rId2" /><Relationship Type="http://schemas.openxmlformats.org/officeDocument/2006/relationships/image" Target="/ppt/media/image17.png" Id="rI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18.png" Id="rI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19.png" Id="rId2" /><Relationship Type="http://schemas.openxmlformats.org/officeDocument/2006/relationships/image" Target="/ppt/media/image20.png" Id="rId3" /><Relationship Type="http://schemas.openxmlformats.org/officeDocument/2006/relationships/image" Target="/ppt/media/image21.png" Id="rId4" /><Relationship Type="http://schemas.openxmlformats.org/officeDocument/2006/relationships/image" Target="/ppt/media/image22.png" Id="rId5" /><Relationship Type="http://schemas.openxmlformats.org/officeDocument/2006/relationships/image" Target="/ppt/media/image23.png" Id="rId6" /><Relationship Type="http://schemas.openxmlformats.org/officeDocument/2006/relationships/image" Target="/ppt/media/image24.png" Id="rI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25.png" Id="rId2" /><Relationship Type="http://schemas.openxmlformats.org/officeDocument/2006/relationships/image" Target="/ppt/media/image26.png" Id="rId3" /><Relationship Type="http://schemas.openxmlformats.org/officeDocument/2006/relationships/image" Target="/ppt/media/image27.png" Id="rId4" /><Relationship Type="http://schemas.openxmlformats.org/officeDocument/2006/relationships/image" Target="/ppt/media/image28.png" Id="rI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Relationship Type="http://schemas.openxmlformats.org/officeDocument/2006/relationships/image" Target="/ppt/media/image29.png" Id="rId2" /><Relationship Type="http://schemas.openxmlformats.org/officeDocument/2006/relationships/image" Target="/ppt/media/image30.png" Id="rId3" /><Relationship Type="http://schemas.openxmlformats.org/officeDocument/2006/relationships/image" Target="/ppt/media/image31.png" Id="rId4" /><Relationship Type="http://schemas.openxmlformats.org/officeDocument/2006/relationships/image" Target="/ppt/media/image32.png" Id="rId5" /><Relationship Type="http://schemas.openxmlformats.org/officeDocument/2006/relationships/image" Target="/ppt/media/image33.png" Id="rId6" /><Relationship Type="http://schemas.openxmlformats.org/officeDocument/2006/relationships/image" Target="/ppt/media/image34.png" Id="rI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Relationship Type="http://schemas.openxmlformats.org/officeDocument/2006/relationships/image" Target="/ppt/media/image35.png" Id="rId2" /><Relationship Type="http://schemas.openxmlformats.org/officeDocument/2006/relationships/image" Target="/ppt/media/image36.png" Id="rId3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FFFFF">
              <a:alpha val="7215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8850" y="1167465"/>
            <a:ext cx="15899130" cy="258635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6809"/>
              </a:lnSpc>
              <a:tabLst>
                <a:tab pos="704215" algn="l"/>
                <a:tab pos="1666239" algn="l"/>
                <a:tab pos="4047490" algn="l"/>
                <a:tab pos="4970145" algn="l"/>
                <a:tab pos="5277485" algn="l"/>
                <a:tab pos="6701790" algn="l"/>
                <a:tab pos="8159750" algn="l"/>
                <a:tab pos="9735820" algn="l"/>
                <a:tab pos="10851515" algn="l"/>
                <a:tab pos="10927080" algn="l"/>
                <a:tab pos="13042265" algn="l"/>
                <a:tab pos="13618844" algn="l"/>
                <a:tab pos="13888085" algn="l"/>
              </a:tabLst>
            </a:pPr>
            <a:r>
              <a:rPr dirty="0" sz="5450" spc="-50"/>
              <a:t>A</a:t>
            </a:r>
            <a:r>
              <a:rPr dirty="0" sz="5450"/>
              <a:t>	</a:t>
            </a:r>
            <a:r>
              <a:rPr dirty="0" sz="5450" spc="-10"/>
              <a:t>Lightweight,</a:t>
            </a:r>
            <a:r>
              <a:rPr dirty="0" sz="5450"/>
              <a:t>	</a:t>
            </a:r>
            <a:r>
              <a:rPr dirty="0" sz="5450" spc="-10"/>
              <a:t>Unsupervised</a:t>
            </a:r>
            <a:r>
              <a:rPr dirty="0" sz="5450"/>
              <a:t>	</a:t>
            </a:r>
            <a:r>
              <a:rPr dirty="0" sz="5450" spc="-10"/>
              <a:t>Framework</a:t>
            </a:r>
            <a:r>
              <a:rPr dirty="0" sz="5450"/>
              <a:t>	</a:t>
            </a:r>
            <a:r>
              <a:rPr dirty="0" sz="5450" spc="-25"/>
              <a:t>for </a:t>
            </a:r>
            <a:r>
              <a:rPr dirty="0" sz="5450" spc="-10"/>
              <a:t>Quantifying</a:t>
            </a:r>
            <a:r>
              <a:rPr dirty="0" sz="5450"/>
              <a:t>	</a:t>
            </a:r>
            <a:r>
              <a:rPr dirty="0" sz="5450" spc="-25"/>
              <a:t>the</a:t>
            </a:r>
            <a:r>
              <a:rPr dirty="0" sz="5450"/>
              <a:t>	</a:t>
            </a:r>
            <a:r>
              <a:rPr dirty="0" sz="5450" spc="-10"/>
              <a:t>Thermal</a:t>
            </a:r>
            <a:r>
              <a:rPr dirty="0" sz="5450"/>
              <a:t>	</a:t>
            </a:r>
            <a:r>
              <a:rPr dirty="0" sz="5450" spc="-10"/>
              <a:t>Cooling</a:t>
            </a:r>
            <a:r>
              <a:rPr dirty="0" sz="5450"/>
              <a:t>		</a:t>
            </a:r>
            <a:r>
              <a:rPr dirty="0" sz="5450" spc="-10"/>
              <a:t>Effect</a:t>
            </a:r>
            <a:r>
              <a:rPr dirty="0" sz="5450"/>
              <a:t>	</a:t>
            </a:r>
            <a:r>
              <a:rPr dirty="0" sz="5450" spc="-25"/>
              <a:t>of</a:t>
            </a:r>
            <a:r>
              <a:rPr dirty="0" sz="5450"/>
              <a:t>	</a:t>
            </a:r>
            <a:r>
              <a:rPr dirty="0" sz="5450" spc="-10"/>
              <a:t>Urban </a:t>
            </a:r>
            <a:r>
              <a:rPr dirty="0" sz="5450" spc="-20"/>
              <a:t>Tree</a:t>
            </a:r>
            <a:r>
              <a:rPr dirty="0" sz="5450"/>
              <a:t>	</a:t>
            </a:r>
            <a:r>
              <a:rPr dirty="0" sz="5450" spc="-10"/>
              <a:t>Canopies</a:t>
            </a:r>
            <a:r>
              <a:rPr dirty="0" sz="5450"/>
              <a:t>	</a:t>
            </a:r>
            <a:r>
              <a:rPr dirty="0" sz="5450" spc="-1510"/>
              <a:t> </a:t>
            </a:r>
            <a:r>
              <a:rPr dirty="0" sz="5450" spc="-10"/>
              <a:t>from</a:t>
            </a:r>
            <a:r>
              <a:rPr dirty="0" sz="5450"/>
              <a:t>	</a:t>
            </a:r>
            <a:r>
              <a:rPr dirty="0" sz="5450" spc="-10"/>
              <a:t>Street-Level</a:t>
            </a:r>
            <a:r>
              <a:rPr dirty="0" sz="5450"/>
              <a:t>	</a:t>
            </a:r>
            <a:r>
              <a:rPr dirty="0" sz="5450" spc="-10"/>
              <a:t>Imagery</a:t>
            </a:r>
            <a:endParaRPr sz="5450"/>
          </a:p>
        </p:txBody>
      </p:sp>
      <p:sp>
        <p:nvSpPr>
          <p:cNvPr id="5" name="object 5" descr=""/>
          <p:cNvSpPr txBox="1"/>
          <p:nvPr/>
        </p:nvSpPr>
        <p:spPr>
          <a:xfrm>
            <a:off x="958850" y="3776969"/>
            <a:ext cx="6879590" cy="1180465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2700" b="1">
                <a:latin typeface="Arial"/>
                <a:cs typeface="Arial"/>
              </a:rPr>
              <a:t>BCSE316L</a:t>
            </a:r>
            <a:r>
              <a:rPr dirty="0" sz="2700" spc="-25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-</a:t>
            </a:r>
            <a:r>
              <a:rPr dirty="0" sz="2700" spc="-20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Design</a:t>
            </a:r>
            <a:r>
              <a:rPr dirty="0" sz="2700" spc="-20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of</a:t>
            </a:r>
            <a:r>
              <a:rPr dirty="0" sz="2700" spc="-25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Smart</a:t>
            </a:r>
            <a:r>
              <a:rPr dirty="0" sz="2700" spc="-20" b="1">
                <a:latin typeface="Arial"/>
                <a:cs typeface="Arial"/>
              </a:rPr>
              <a:t> </a:t>
            </a:r>
            <a:r>
              <a:rPr dirty="0" sz="2700" spc="-10" b="1">
                <a:latin typeface="Arial"/>
                <a:cs typeface="Arial"/>
              </a:rPr>
              <a:t>Cities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3250" b="1">
                <a:latin typeface="Arial"/>
                <a:cs typeface="Arial"/>
              </a:rPr>
              <a:t>Team</a:t>
            </a:r>
            <a:r>
              <a:rPr dirty="0" sz="3250" spc="-105" b="1">
                <a:latin typeface="Arial"/>
                <a:cs typeface="Arial"/>
              </a:rPr>
              <a:t> </a:t>
            </a:r>
            <a:r>
              <a:rPr dirty="0" sz="3250" b="1">
                <a:latin typeface="Arial"/>
                <a:cs typeface="Arial"/>
              </a:rPr>
              <a:t>members</a:t>
            </a:r>
            <a:r>
              <a:rPr dirty="0" sz="3250" spc="-100" b="1">
                <a:latin typeface="Arial"/>
                <a:cs typeface="Arial"/>
              </a:rPr>
              <a:t> </a:t>
            </a:r>
            <a:r>
              <a:rPr dirty="0" sz="3250" b="1">
                <a:latin typeface="Arial"/>
                <a:cs typeface="Arial"/>
              </a:rPr>
              <a:t>with</a:t>
            </a:r>
            <a:r>
              <a:rPr dirty="0" sz="3250" spc="-100" b="1">
                <a:latin typeface="Arial"/>
                <a:cs typeface="Arial"/>
              </a:rPr>
              <a:t> </a:t>
            </a:r>
            <a:r>
              <a:rPr dirty="0" sz="3250" spc="-10" b="1">
                <a:latin typeface="Arial"/>
                <a:cs typeface="Arial"/>
              </a:rPr>
              <a:t>contributions:</a:t>
            </a:r>
            <a:endParaRPr sz="32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58850" y="5279504"/>
            <a:ext cx="15927069" cy="3693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160655">
              <a:lnSpc>
                <a:spcPct val="133200"/>
              </a:lnSpc>
              <a:spcBef>
                <a:spcPts val="100"/>
              </a:spcBef>
              <a:buFont typeface="Arial"/>
              <a:buChar char="•"/>
              <a:tabLst>
                <a:tab pos="332740" algn="l"/>
              </a:tabLst>
            </a:pPr>
            <a:r>
              <a:rPr dirty="0" sz="2150" b="1">
                <a:solidFill>
                  <a:srgbClr val="272424"/>
                </a:solidFill>
                <a:latin typeface="Arial"/>
                <a:cs typeface="Arial"/>
              </a:rPr>
              <a:t>Devank</a:t>
            </a:r>
            <a:r>
              <a:rPr dirty="0" sz="2150" spc="-8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272424"/>
                </a:solidFill>
                <a:latin typeface="Arial"/>
                <a:cs typeface="Arial"/>
              </a:rPr>
              <a:t>Gupta</a:t>
            </a:r>
            <a:r>
              <a:rPr dirty="0" sz="2150" spc="-8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272424"/>
                </a:solidFill>
                <a:latin typeface="Arial"/>
                <a:cs typeface="Arial"/>
              </a:rPr>
              <a:t>(22BCE3295)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:</a:t>
            </a:r>
            <a:r>
              <a:rPr dirty="0" sz="2150" spc="-8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Created</a:t>
            </a:r>
            <a:r>
              <a:rPr dirty="0" sz="2150" spc="-8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2150" spc="-8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algorithm,</a:t>
            </a:r>
            <a:r>
              <a:rPr dirty="0" sz="2150" spc="-8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worked</a:t>
            </a:r>
            <a:r>
              <a:rPr dirty="0" sz="2150" spc="-8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on</a:t>
            </a:r>
            <a:r>
              <a:rPr dirty="0" sz="2150" spc="-8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272424"/>
                </a:solidFill>
                <a:latin typeface="Arial"/>
                <a:cs typeface="Arial"/>
              </a:rPr>
              <a:t>unsupervised</a:t>
            </a:r>
            <a:r>
              <a:rPr dirty="0" sz="2150" spc="-8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model</a:t>
            </a:r>
            <a:r>
              <a:rPr dirty="0" sz="2150" spc="-8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training</a:t>
            </a:r>
            <a:r>
              <a:rPr dirty="0" sz="2150" spc="-8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dirty="0" sz="2150" spc="-8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detecting</a:t>
            </a:r>
            <a:r>
              <a:rPr dirty="0" sz="2150" spc="-8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thermal</a:t>
            </a:r>
            <a:r>
              <a:rPr dirty="0" sz="2150" spc="-8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cooling</a:t>
            </a:r>
            <a:r>
              <a:rPr dirty="0" sz="2150" spc="-8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272424"/>
                </a:solidFill>
                <a:latin typeface="Arial"/>
                <a:cs typeface="Arial"/>
              </a:rPr>
              <a:t>effect,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215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created</a:t>
            </a:r>
            <a:r>
              <a:rPr dirty="0" sz="215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215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report</a:t>
            </a:r>
            <a:r>
              <a:rPr dirty="0" sz="215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272424"/>
                </a:solidFill>
                <a:latin typeface="Arial"/>
                <a:cs typeface="Arial"/>
              </a:rPr>
              <a:t>document.</a:t>
            </a:r>
            <a:endParaRPr sz="2150">
              <a:latin typeface="Arial"/>
              <a:cs typeface="Arial"/>
            </a:endParaRPr>
          </a:p>
          <a:p>
            <a:pPr marL="332740" marR="388620" indent="-160655">
              <a:lnSpc>
                <a:spcPct val="133200"/>
              </a:lnSpc>
              <a:spcBef>
                <a:spcPts val="885"/>
              </a:spcBef>
              <a:buFont typeface="Arial"/>
              <a:buChar char="•"/>
              <a:tabLst>
                <a:tab pos="332740" algn="l"/>
              </a:tabLst>
            </a:pPr>
            <a:r>
              <a:rPr dirty="0" sz="2150" b="1">
                <a:solidFill>
                  <a:srgbClr val="272424"/>
                </a:solidFill>
                <a:latin typeface="Arial"/>
                <a:cs typeface="Arial"/>
              </a:rPr>
              <a:t>Aayush</a:t>
            </a:r>
            <a:r>
              <a:rPr dirty="0" sz="2150" spc="-80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272424"/>
                </a:solidFill>
                <a:latin typeface="Arial"/>
                <a:cs typeface="Arial"/>
              </a:rPr>
              <a:t>Khanna</a:t>
            </a:r>
            <a:r>
              <a:rPr dirty="0" sz="2150" spc="-80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272424"/>
                </a:solidFill>
                <a:latin typeface="Arial"/>
                <a:cs typeface="Arial"/>
              </a:rPr>
              <a:t>(22BCE3240)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:</a:t>
            </a:r>
            <a:r>
              <a:rPr dirty="0" sz="2150" spc="-8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Collected</a:t>
            </a:r>
            <a:r>
              <a:rPr dirty="0" sz="2150" spc="-7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data</a:t>
            </a:r>
            <a:r>
              <a:rPr dirty="0" sz="2150" spc="-8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from</a:t>
            </a:r>
            <a:r>
              <a:rPr dirty="0" sz="2150" spc="-8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satellite</a:t>
            </a:r>
            <a:r>
              <a:rPr dirty="0" sz="2150" spc="-8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imagery,</a:t>
            </a:r>
            <a:r>
              <a:rPr dirty="0" sz="2150" spc="-7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extracted</a:t>
            </a:r>
            <a:r>
              <a:rPr dirty="0" sz="2150" spc="-8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2150" spc="-8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complete</a:t>
            </a:r>
            <a:r>
              <a:rPr dirty="0" sz="2150" spc="-8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dataset,</a:t>
            </a:r>
            <a:r>
              <a:rPr dirty="0" sz="2150" spc="-7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2150" spc="-8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wrote</a:t>
            </a:r>
            <a:r>
              <a:rPr dirty="0" sz="2150" spc="-8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2150" spc="-7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272424"/>
                </a:solidFill>
                <a:latin typeface="Arial"/>
                <a:cs typeface="Arial"/>
              </a:rPr>
              <a:t>research paper.</a:t>
            </a:r>
            <a:endParaRPr sz="2150">
              <a:latin typeface="Arial"/>
              <a:cs typeface="Arial"/>
            </a:endParaRPr>
          </a:p>
          <a:p>
            <a:pPr marL="443865">
              <a:lnSpc>
                <a:spcPct val="100000"/>
              </a:lnSpc>
              <a:spcBef>
                <a:spcPts val="865"/>
              </a:spcBef>
            </a:pPr>
            <a:r>
              <a:rPr dirty="0" sz="1600" b="1">
                <a:latin typeface="Arial"/>
                <a:cs typeface="Arial"/>
              </a:rPr>
              <a:t>Github</a:t>
            </a:r>
            <a:r>
              <a:rPr dirty="0" sz="1600" spc="1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link</a:t>
            </a:r>
            <a:r>
              <a:rPr dirty="0" sz="1600" spc="114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114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https://github.com/devank21/Unsupervised-</a:t>
            </a:r>
            <a:r>
              <a:rPr dirty="0" sz="1600" spc="-20" b="1">
                <a:latin typeface="Arial"/>
                <a:cs typeface="Arial"/>
              </a:rPr>
              <a:t>Framework-for-</a:t>
            </a:r>
            <a:r>
              <a:rPr dirty="0" sz="1600" spc="-10" b="1">
                <a:latin typeface="Arial"/>
                <a:cs typeface="Arial"/>
              </a:rPr>
              <a:t>Quantifying-the-Thermal-Cooling-Effect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2700" b="1">
                <a:latin typeface="Arial"/>
                <a:cs typeface="Arial"/>
              </a:rPr>
              <a:t>Under</a:t>
            </a:r>
            <a:r>
              <a:rPr dirty="0" sz="2700" spc="-50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the</a:t>
            </a:r>
            <a:r>
              <a:rPr dirty="0" sz="2700" spc="-45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Guidance</a:t>
            </a:r>
            <a:r>
              <a:rPr dirty="0" sz="2700" spc="-45" b="1">
                <a:latin typeface="Arial"/>
                <a:cs typeface="Arial"/>
              </a:rPr>
              <a:t> </a:t>
            </a:r>
            <a:r>
              <a:rPr dirty="0" sz="2700" spc="-25" b="1">
                <a:latin typeface="Arial"/>
                <a:cs typeface="Arial"/>
              </a:rPr>
              <a:t>of: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700">
                <a:solidFill>
                  <a:srgbClr val="272424"/>
                </a:solidFill>
                <a:latin typeface="Arial"/>
                <a:cs typeface="Arial"/>
              </a:rPr>
              <a:t>Dr.</a:t>
            </a:r>
            <a:r>
              <a:rPr dirty="0" sz="2700" spc="-5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272424"/>
                </a:solidFill>
                <a:latin typeface="Arial"/>
                <a:cs typeface="Arial"/>
              </a:rPr>
              <a:t>Swarnalatha.</a:t>
            </a:r>
            <a:r>
              <a:rPr dirty="0" sz="2700" spc="-4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700" spc="-50">
                <a:solidFill>
                  <a:srgbClr val="272424"/>
                </a:solidFill>
                <a:latin typeface="Arial"/>
                <a:cs typeface="Arial"/>
              </a:rPr>
              <a:t>P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Aim</a:t>
            </a:r>
            <a:r>
              <a:rPr dirty="0" spc="-25"/>
              <a:t> </a:t>
            </a:r>
            <a:r>
              <a:rPr dirty="0"/>
              <a:t>&amp;</a:t>
            </a:r>
            <a:r>
              <a:rPr dirty="0" spc="-25"/>
              <a:t> </a:t>
            </a:r>
            <a:r>
              <a:rPr dirty="0" spc="-10"/>
              <a:t>Scope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344" y="875235"/>
            <a:ext cx="11863705" cy="765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5" b="1">
                <a:latin typeface="Arial"/>
                <a:cs typeface="Arial"/>
              </a:rPr>
              <a:t>AIM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primary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aim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design,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implement,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validate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lightweight,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unsupervised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computational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framework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capable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predicting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thermal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cooling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effect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tree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canopies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from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standard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RGB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imagery.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96044" y="1913356"/>
            <a:ext cx="17296130" cy="27305"/>
          </a:xfrm>
          <a:custGeom>
            <a:avLst/>
            <a:gdLst/>
            <a:ahLst/>
            <a:cxnLst/>
            <a:rect l="l" t="t" r="r" b="b"/>
            <a:pathLst>
              <a:path w="17296130" h="27305">
                <a:moveTo>
                  <a:pt x="17295876" y="0"/>
                </a:moveTo>
                <a:lnTo>
                  <a:pt x="0" y="0"/>
                </a:lnTo>
                <a:lnTo>
                  <a:pt x="0" y="27241"/>
                </a:lnTo>
                <a:lnTo>
                  <a:pt x="17295876" y="27241"/>
                </a:lnTo>
                <a:lnTo>
                  <a:pt x="17295876" y="0"/>
                </a:lnTo>
                <a:close/>
              </a:path>
            </a:pathLst>
          </a:custGeom>
          <a:solidFill>
            <a:srgbClr val="272424">
              <a:alpha val="24705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044" y="2795295"/>
            <a:ext cx="70864" cy="7086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83344" y="2138933"/>
            <a:ext cx="5476240" cy="1294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latin typeface="Arial"/>
                <a:cs typeface="Arial"/>
              </a:rPr>
              <a:t>SCOPE</a:t>
            </a:r>
            <a:endParaRPr sz="22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1810"/>
              </a:spcBef>
            </a:pP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Technical:</a:t>
            </a:r>
            <a:endParaRPr sz="1400">
              <a:latin typeface="Arial"/>
              <a:cs typeface="Arial"/>
            </a:endParaRPr>
          </a:p>
          <a:p>
            <a:pPr marL="224790" marR="5080">
              <a:lnSpc>
                <a:spcPct val="138900"/>
              </a:lnSpc>
              <a:spcBef>
                <a:spcPts val="360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proof-of-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concept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unsupervised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computer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vision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pipeline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using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scikit-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image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272424"/>
                </a:solidFill>
                <a:latin typeface="Arial"/>
                <a:cs typeface="Arial"/>
              </a:rPr>
              <a:t>a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custom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Python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thermal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model.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It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explicitly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does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not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involve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deep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learning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or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GPUs.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0282" y="2795295"/>
            <a:ext cx="70864" cy="7086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520116" y="2704413"/>
            <a:ext cx="5435600" cy="728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Geographical: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38900"/>
              </a:lnSpc>
              <a:spcBef>
                <a:spcPts val="355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framework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image-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agnostic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geographically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independent,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designed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process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any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standard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RGB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image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(street-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level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or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aerial).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4667" y="2795295"/>
            <a:ext cx="70866" cy="7086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2344501" y="2704413"/>
            <a:ext cx="5431155" cy="728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Temporal: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38900"/>
              </a:lnSpc>
              <a:spcBef>
                <a:spcPts val="355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project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performs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static,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"snapshot"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analysis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single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image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at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one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point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in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time.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It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is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not</a:t>
            </a:r>
            <a:r>
              <a:rPr dirty="0" sz="10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designed</a:t>
            </a:r>
            <a:r>
              <a:rPr dirty="0" sz="10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dirty="0" sz="10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temporal</a:t>
            </a:r>
            <a:r>
              <a:rPr dirty="0" sz="10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forecasting.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044" y="3866260"/>
            <a:ext cx="10774298" cy="64207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Abstract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76994" y="1106685"/>
            <a:ext cx="5699760" cy="1247775"/>
            <a:chOff x="476994" y="1106685"/>
            <a:chExt cx="5699760" cy="1247775"/>
          </a:xfrm>
        </p:grpSpPr>
        <p:sp>
          <p:nvSpPr>
            <p:cNvPr id="4" name="object 4" descr=""/>
            <p:cNvSpPr/>
            <p:nvPr/>
          </p:nvSpPr>
          <p:spPr>
            <a:xfrm>
              <a:off x="486519" y="1106685"/>
              <a:ext cx="5690235" cy="1247775"/>
            </a:xfrm>
            <a:custGeom>
              <a:avLst/>
              <a:gdLst/>
              <a:ahLst/>
              <a:cxnLst/>
              <a:rect l="l" t="t" r="r" b="b"/>
              <a:pathLst>
                <a:path w="5690235" h="1247775">
                  <a:moveTo>
                    <a:pt x="5587746" y="0"/>
                  </a:moveTo>
                  <a:lnTo>
                    <a:pt x="102107" y="0"/>
                  </a:lnTo>
                  <a:lnTo>
                    <a:pt x="62404" y="7912"/>
                  </a:lnTo>
                  <a:lnTo>
                    <a:pt x="29944" y="29513"/>
                  </a:lnTo>
                  <a:lnTo>
                    <a:pt x="8038" y="61598"/>
                  </a:lnTo>
                  <a:lnTo>
                    <a:pt x="0" y="100965"/>
                  </a:lnTo>
                  <a:lnTo>
                    <a:pt x="0" y="1146809"/>
                  </a:lnTo>
                  <a:lnTo>
                    <a:pt x="8038" y="1186170"/>
                  </a:lnTo>
                  <a:lnTo>
                    <a:pt x="29944" y="1218257"/>
                  </a:lnTo>
                  <a:lnTo>
                    <a:pt x="62404" y="1239860"/>
                  </a:lnTo>
                  <a:lnTo>
                    <a:pt x="102107" y="1247775"/>
                  </a:lnTo>
                  <a:lnTo>
                    <a:pt x="102107" y="1238250"/>
                  </a:lnTo>
                  <a:lnTo>
                    <a:pt x="5629866" y="1238250"/>
                  </a:lnTo>
                  <a:lnTo>
                    <a:pt x="5644178" y="1228725"/>
                  </a:lnTo>
                  <a:lnTo>
                    <a:pt x="102107" y="1228725"/>
                  </a:lnTo>
                  <a:lnTo>
                    <a:pt x="69721" y="1222274"/>
                  </a:lnTo>
                  <a:lnTo>
                    <a:pt x="43326" y="1204698"/>
                  </a:lnTo>
                  <a:lnTo>
                    <a:pt x="25558" y="1178656"/>
                  </a:lnTo>
                  <a:lnTo>
                    <a:pt x="19049" y="1146809"/>
                  </a:lnTo>
                  <a:lnTo>
                    <a:pt x="19049" y="100965"/>
                  </a:lnTo>
                  <a:lnTo>
                    <a:pt x="25558" y="69118"/>
                  </a:lnTo>
                  <a:lnTo>
                    <a:pt x="43326" y="43076"/>
                  </a:lnTo>
                  <a:lnTo>
                    <a:pt x="69721" y="25500"/>
                  </a:lnTo>
                  <a:lnTo>
                    <a:pt x="102107" y="19050"/>
                  </a:lnTo>
                  <a:lnTo>
                    <a:pt x="102107" y="9525"/>
                  </a:lnTo>
                  <a:lnTo>
                    <a:pt x="5587746" y="9525"/>
                  </a:lnTo>
                  <a:lnTo>
                    <a:pt x="5587746" y="0"/>
                  </a:lnTo>
                  <a:close/>
                </a:path>
                <a:path w="5690235" h="1247775">
                  <a:moveTo>
                    <a:pt x="5587746" y="1238250"/>
                  </a:moveTo>
                  <a:lnTo>
                    <a:pt x="102107" y="1238250"/>
                  </a:lnTo>
                  <a:lnTo>
                    <a:pt x="102107" y="1247775"/>
                  </a:lnTo>
                  <a:lnTo>
                    <a:pt x="5587746" y="1247775"/>
                  </a:lnTo>
                  <a:lnTo>
                    <a:pt x="5587746" y="1238250"/>
                  </a:lnTo>
                  <a:close/>
                </a:path>
                <a:path w="5690235" h="1247775">
                  <a:moveTo>
                    <a:pt x="5629866" y="1238250"/>
                  </a:moveTo>
                  <a:lnTo>
                    <a:pt x="5587746" y="1238250"/>
                  </a:lnTo>
                  <a:lnTo>
                    <a:pt x="5587746" y="1247775"/>
                  </a:lnTo>
                  <a:lnTo>
                    <a:pt x="5627446" y="1239860"/>
                  </a:lnTo>
                  <a:lnTo>
                    <a:pt x="5629866" y="1238250"/>
                  </a:lnTo>
                  <a:close/>
                </a:path>
                <a:path w="5690235" h="1247775">
                  <a:moveTo>
                    <a:pt x="5587746" y="0"/>
                  </a:moveTo>
                  <a:lnTo>
                    <a:pt x="5587746" y="9525"/>
                  </a:lnTo>
                  <a:lnTo>
                    <a:pt x="102107" y="9525"/>
                  </a:lnTo>
                  <a:lnTo>
                    <a:pt x="102107" y="19050"/>
                  </a:lnTo>
                  <a:lnTo>
                    <a:pt x="5587746" y="19050"/>
                  </a:lnTo>
                  <a:lnTo>
                    <a:pt x="5620129" y="25500"/>
                  </a:lnTo>
                  <a:lnTo>
                    <a:pt x="5646524" y="43076"/>
                  </a:lnTo>
                  <a:lnTo>
                    <a:pt x="5664294" y="69118"/>
                  </a:lnTo>
                  <a:lnTo>
                    <a:pt x="5670804" y="100965"/>
                  </a:lnTo>
                  <a:lnTo>
                    <a:pt x="5670804" y="1146809"/>
                  </a:lnTo>
                  <a:lnTo>
                    <a:pt x="5664294" y="1178656"/>
                  </a:lnTo>
                  <a:lnTo>
                    <a:pt x="5646524" y="1204698"/>
                  </a:lnTo>
                  <a:lnTo>
                    <a:pt x="5620129" y="1222274"/>
                  </a:lnTo>
                  <a:lnTo>
                    <a:pt x="5587746" y="1228725"/>
                  </a:lnTo>
                  <a:lnTo>
                    <a:pt x="5644178" y="1228725"/>
                  </a:lnTo>
                  <a:lnTo>
                    <a:pt x="5659907" y="1218257"/>
                  </a:lnTo>
                  <a:lnTo>
                    <a:pt x="5681814" y="1186170"/>
                  </a:lnTo>
                  <a:lnTo>
                    <a:pt x="5689854" y="1146809"/>
                  </a:lnTo>
                  <a:lnTo>
                    <a:pt x="5689854" y="100965"/>
                  </a:lnTo>
                  <a:lnTo>
                    <a:pt x="5681814" y="61598"/>
                  </a:lnTo>
                  <a:lnTo>
                    <a:pt x="5659907" y="29513"/>
                  </a:lnTo>
                  <a:lnTo>
                    <a:pt x="5627446" y="7912"/>
                  </a:lnTo>
                  <a:lnTo>
                    <a:pt x="5587746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76994" y="1116210"/>
              <a:ext cx="76200" cy="1228725"/>
            </a:xfrm>
            <a:custGeom>
              <a:avLst/>
              <a:gdLst/>
              <a:ahLst/>
              <a:cxnLst/>
              <a:rect l="l" t="t" r="r" b="b"/>
              <a:pathLst>
                <a:path w="76200" h="1228725">
                  <a:moveTo>
                    <a:pt x="38099" y="0"/>
                  </a:moveTo>
                  <a:lnTo>
                    <a:pt x="23266" y="2992"/>
                  </a:lnTo>
                  <a:lnTo>
                    <a:pt x="11156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1190625"/>
                  </a:lnTo>
                  <a:lnTo>
                    <a:pt x="2992" y="1205456"/>
                  </a:lnTo>
                  <a:lnTo>
                    <a:pt x="11156" y="1217566"/>
                  </a:lnTo>
                  <a:lnTo>
                    <a:pt x="23266" y="1225731"/>
                  </a:lnTo>
                  <a:lnTo>
                    <a:pt x="38099" y="1228725"/>
                  </a:lnTo>
                  <a:lnTo>
                    <a:pt x="52933" y="1225731"/>
                  </a:lnTo>
                  <a:lnTo>
                    <a:pt x="65043" y="1217566"/>
                  </a:lnTo>
                  <a:lnTo>
                    <a:pt x="73206" y="1205456"/>
                  </a:lnTo>
                  <a:lnTo>
                    <a:pt x="76199" y="1190625"/>
                  </a:lnTo>
                  <a:lnTo>
                    <a:pt x="76199" y="38100"/>
                  </a:lnTo>
                  <a:lnTo>
                    <a:pt x="73206" y="23263"/>
                  </a:lnTo>
                  <a:lnTo>
                    <a:pt x="65043" y="11153"/>
                  </a:lnTo>
                  <a:lnTo>
                    <a:pt x="52933" y="2992"/>
                  </a:lnTo>
                  <a:lnTo>
                    <a:pt x="38099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01229" y="1213799"/>
            <a:ext cx="5284470" cy="692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900"/>
              </a:lnSpc>
              <a:spcBef>
                <a:spcPts val="100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Urban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Heat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Island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(UHI)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effect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poses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critical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threat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urban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sustainability.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Green infrastructure,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especially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trees,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primary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mitigation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strategy,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but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planners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lack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scalable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tools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quantify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their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cooling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performance.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289471" y="1106685"/>
            <a:ext cx="5699760" cy="1247775"/>
            <a:chOff x="6289471" y="1106685"/>
            <a:chExt cx="5699760" cy="1247775"/>
          </a:xfrm>
        </p:grpSpPr>
        <p:sp>
          <p:nvSpPr>
            <p:cNvPr id="8" name="object 8" descr=""/>
            <p:cNvSpPr/>
            <p:nvPr/>
          </p:nvSpPr>
          <p:spPr>
            <a:xfrm>
              <a:off x="6298996" y="1106685"/>
              <a:ext cx="5690235" cy="1247775"/>
            </a:xfrm>
            <a:custGeom>
              <a:avLst/>
              <a:gdLst/>
              <a:ahLst/>
              <a:cxnLst/>
              <a:rect l="l" t="t" r="r" b="b"/>
              <a:pathLst>
                <a:path w="5690234" h="1247775">
                  <a:moveTo>
                    <a:pt x="5587746" y="0"/>
                  </a:moveTo>
                  <a:lnTo>
                    <a:pt x="102107" y="0"/>
                  </a:lnTo>
                  <a:lnTo>
                    <a:pt x="62404" y="7912"/>
                  </a:lnTo>
                  <a:lnTo>
                    <a:pt x="29944" y="29513"/>
                  </a:lnTo>
                  <a:lnTo>
                    <a:pt x="8038" y="61598"/>
                  </a:lnTo>
                  <a:lnTo>
                    <a:pt x="0" y="100965"/>
                  </a:lnTo>
                  <a:lnTo>
                    <a:pt x="0" y="1146809"/>
                  </a:lnTo>
                  <a:lnTo>
                    <a:pt x="8038" y="1186170"/>
                  </a:lnTo>
                  <a:lnTo>
                    <a:pt x="29944" y="1218257"/>
                  </a:lnTo>
                  <a:lnTo>
                    <a:pt x="62404" y="1239860"/>
                  </a:lnTo>
                  <a:lnTo>
                    <a:pt x="102107" y="1247775"/>
                  </a:lnTo>
                  <a:lnTo>
                    <a:pt x="102107" y="1238250"/>
                  </a:lnTo>
                  <a:lnTo>
                    <a:pt x="5629872" y="1238250"/>
                  </a:lnTo>
                  <a:lnTo>
                    <a:pt x="5644183" y="1228725"/>
                  </a:lnTo>
                  <a:lnTo>
                    <a:pt x="102107" y="1228725"/>
                  </a:lnTo>
                  <a:lnTo>
                    <a:pt x="69721" y="1222274"/>
                  </a:lnTo>
                  <a:lnTo>
                    <a:pt x="43326" y="1204698"/>
                  </a:lnTo>
                  <a:lnTo>
                    <a:pt x="25558" y="1178656"/>
                  </a:lnTo>
                  <a:lnTo>
                    <a:pt x="19049" y="1146809"/>
                  </a:lnTo>
                  <a:lnTo>
                    <a:pt x="19049" y="100965"/>
                  </a:lnTo>
                  <a:lnTo>
                    <a:pt x="25558" y="69118"/>
                  </a:lnTo>
                  <a:lnTo>
                    <a:pt x="43326" y="43076"/>
                  </a:lnTo>
                  <a:lnTo>
                    <a:pt x="69721" y="25500"/>
                  </a:lnTo>
                  <a:lnTo>
                    <a:pt x="102107" y="19050"/>
                  </a:lnTo>
                  <a:lnTo>
                    <a:pt x="102107" y="9525"/>
                  </a:lnTo>
                  <a:lnTo>
                    <a:pt x="5587746" y="9525"/>
                  </a:lnTo>
                  <a:lnTo>
                    <a:pt x="5587746" y="0"/>
                  </a:lnTo>
                  <a:close/>
                </a:path>
                <a:path w="5690234" h="1247775">
                  <a:moveTo>
                    <a:pt x="5587746" y="1238250"/>
                  </a:moveTo>
                  <a:lnTo>
                    <a:pt x="102107" y="1238250"/>
                  </a:lnTo>
                  <a:lnTo>
                    <a:pt x="102107" y="1247775"/>
                  </a:lnTo>
                  <a:lnTo>
                    <a:pt x="5587746" y="1247775"/>
                  </a:lnTo>
                  <a:lnTo>
                    <a:pt x="5587746" y="1238250"/>
                  </a:lnTo>
                  <a:close/>
                </a:path>
                <a:path w="5690234" h="1247775">
                  <a:moveTo>
                    <a:pt x="5629872" y="1238250"/>
                  </a:moveTo>
                  <a:lnTo>
                    <a:pt x="5587746" y="1238250"/>
                  </a:lnTo>
                  <a:lnTo>
                    <a:pt x="5587746" y="1247775"/>
                  </a:lnTo>
                  <a:lnTo>
                    <a:pt x="5627451" y="1239860"/>
                  </a:lnTo>
                  <a:lnTo>
                    <a:pt x="5629872" y="1238250"/>
                  </a:lnTo>
                  <a:close/>
                </a:path>
                <a:path w="5690234" h="1247775">
                  <a:moveTo>
                    <a:pt x="5587746" y="0"/>
                  </a:moveTo>
                  <a:lnTo>
                    <a:pt x="5587746" y="9525"/>
                  </a:lnTo>
                  <a:lnTo>
                    <a:pt x="102107" y="9525"/>
                  </a:lnTo>
                  <a:lnTo>
                    <a:pt x="102107" y="19050"/>
                  </a:lnTo>
                  <a:lnTo>
                    <a:pt x="5587746" y="19050"/>
                  </a:lnTo>
                  <a:lnTo>
                    <a:pt x="5620135" y="25500"/>
                  </a:lnTo>
                  <a:lnTo>
                    <a:pt x="5646529" y="43076"/>
                  </a:lnTo>
                  <a:lnTo>
                    <a:pt x="5664296" y="69118"/>
                  </a:lnTo>
                  <a:lnTo>
                    <a:pt x="5670804" y="100965"/>
                  </a:lnTo>
                  <a:lnTo>
                    <a:pt x="5670804" y="1146809"/>
                  </a:lnTo>
                  <a:lnTo>
                    <a:pt x="5664296" y="1178656"/>
                  </a:lnTo>
                  <a:lnTo>
                    <a:pt x="5646529" y="1204698"/>
                  </a:lnTo>
                  <a:lnTo>
                    <a:pt x="5620135" y="1222274"/>
                  </a:lnTo>
                  <a:lnTo>
                    <a:pt x="5587746" y="1228725"/>
                  </a:lnTo>
                  <a:lnTo>
                    <a:pt x="5644183" y="1228725"/>
                  </a:lnTo>
                  <a:lnTo>
                    <a:pt x="5659912" y="1218257"/>
                  </a:lnTo>
                  <a:lnTo>
                    <a:pt x="5681816" y="1186170"/>
                  </a:lnTo>
                  <a:lnTo>
                    <a:pt x="5689854" y="1146809"/>
                  </a:lnTo>
                  <a:lnTo>
                    <a:pt x="5689854" y="100965"/>
                  </a:lnTo>
                  <a:lnTo>
                    <a:pt x="5681816" y="61598"/>
                  </a:lnTo>
                  <a:lnTo>
                    <a:pt x="5659912" y="29513"/>
                  </a:lnTo>
                  <a:lnTo>
                    <a:pt x="5627451" y="7912"/>
                  </a:lnTo>
                  <a:lnTo>
                    <a:pt x="5587746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289471" y="1116210"/>
              <a:ext cx="76200" cy="1228725"/>
            </a:xfrm>
            <a:custGeom>
              <a:avLst/>
              <a:gdLst/>
              <a:ahLst/>
              <a:cxnLst/>
              <a:rect l="l" t="t" r="r" b="b"/>
              <a:pathLst>
                <a:path w="76200" h="1228725">
                  <a:moveTo>
                    <a:pt x="38099" y="0"/>
                  </a:moveTo>
                  <a:lnTo>
                    <a:pt x="23266" y="2992"/>
                  </a:lnTo>
                  <a:lnTo>
                    <a:pt x="11156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1190625"/>
                  </a:lnTo>
                  <a:lnTo>
                    <a:pt x="2992" y="1205456"/>
                  </a:lnTo>
                  <a:lnTo>
                    <a:pt x="11156" y="1217566"/>
                  </a:lnTo>
                  <a:lnTo>
                    <a:pt x="23266" y="1225731"/>
                  </a:lnTo>
                  <a:lnTo>
                    <a:pt x="38099" y="1228725"/>
                  </a:lnTo>
                  <a:lnTo>
                    <a:pt x="52933" y="1225731"/>
                  </a:lnTo>
                  <a:lnTo>
                    <a:pt x="65043" y="1217566"/>
                  </a:lnTo>
                  <a:lnTo>
                    <a:pt x="73206" y="1205456"/>
                  </a:lnTo>
                  <a:lnTo>
                    <a:pt x="76199" y="1190625"/>
                  </a:lnTo>
                  <a:lnTo>
                    <a:pt x="76199" y="38100"/>
                  </a:lnTo>
                  <a:lnTo>
                    <a:pt x="73206" y="23263"/>
                  </a:lnTo>
                  <a:lnTo>
                    <a:pt x="65043" y="11153"/>
                  </a:lnTo>
                  <a:lnTo>
                    <a:pt x="52933" y="2992"/>
                  </a:lnTo>
                  <a:lnTo>
                    <a:pt x="38099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513715" y="1213799"/>
            <a:ext cx="5219700" cy="469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900"/>
              </a:lnSpc>
              <a:spcBef>
                <a:spcPts val="100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While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deep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learning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models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exist,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they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are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computationally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expensive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require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large,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labeled</a:t>
            </a:r>
            <a:r>
              <a:rPr dirty="0" sz="105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datasets.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2101956" y="1106685"/>
            <a:ext cx="5699760" cy="1247775"/>
            <a:chOff x="12101956" y="1106685"/>
            <a:chExt cx="5699760" cy="1247775"/>
          </a:xfrm>
        </p:grpSpPr>
        <p:sp>
          <p:nvSpPr>
            <p:cNvPr id="12" name="object 12" descr=""/>
            <p:cNvSpPr/>
            <p:nvPr/>
          </p:nvSpPr>
          <p:spPr>
            <a:xfrm>
              <a:off x="12111481" y="1106685"/>
              <a:ext cx="5690235" cy="1247775"/>
            </a:xfrm>
            <a:custGeom>
              <a:avLst/>
              <a:gdLst/>
              <a:ahLst/>
              <a:cxnLst/>
              <a:rect l="l" t="t" r="r" b="b"/>
              <a:pathLst>
                <a:path w="5690234" h="1247775">
                  <a:moveTo>
                    <a:pt x="5587746" y="0"/>
                  </a:moveTo>
                  <a:lnTo>
                    <a:pt x="102107" y="0"/>
                  </a:lnTo>
                  <a:lnTo>
                    <a:pt x="62404" y="7912"/>
                  </a:lnTo>
                  <a:lnTo>
                    <a:pt x="29944" y="29513"/>
                  </a:lnTo>
                  <a:lnTo>
                    <a:pt x="8038" y="61598"/>
                  </a:lnTo>
                  <a:lnTo>
                    <a:pt x="0" y="100965"/>
                  </a:lnTo>
                  <a:lnTo>
                    <a:pt x="0" y="1146809"/>
                  </a:lnTo>
                  <a:lnTo>
                    <a:pt x="8038" y="1186170"/>
                  </a:lnTo>
                  <a:lnTo>
                    <a:pt x="29944" y="1218257"/>
                  </a:lnTo>
                  <a:lnTo>
                    <a:pt x="62404" y="1239860"/>
                  </a:lnTo>
                  <a:lnTo>
                    <a:pt x="102107" y="1247775"/>
                  </a:lnTo>
                  <a:lnTo>
                    <a:pt x="102107" y="1238250"/>
                  </a:lnTo>
                  <a:lnTo>
                    <a:pt x="5629872" y="1238250"/>
                  </a:lnTo>
                  <a:lnTo>
                    <a:pt x="5644183" y="1228725"/>
                  </a:lnTo>
                  <a:lnTo>
                    <a:pt x="102107" y="1228725"/>
                  </a:lnTo>
                  <a:lnTo>
                    <a:pt x="69721" y="1222274"/>
                  </a:lnTo>
                  <a:lnTo>
                    <a:pt x="43326" y="1204698"/>
                  </a:lnTo>
                  <a:lnTo>
                    <a:pt x="25558" y="1178656"/>
                  </a:lnTo>
                  <a:lnTo>
                    <a:pt x="19049" y="1146809"/>
                  </a:lnTo>
                  <a:lnTo>
                    <a:pt x="19049" y="100965"/>
                  </a:lnTo>
                  <a:lnTo>
                    <a:pt x="25558" y="69118"/>
                  </a:lnTo>
                  <a:lnTo>
                    <a:pt x="43326" y="43076"/>
                  </a:lnTo>
                  <a:lnTo>
                    <a:pt x="69721" y="25500"/>
                  </a:lnTo>
                  <a:lnTo>
                    <a:pt x="102107" y="19050"/>
                  </a:lnTo>
                  <a:lnTo>
                    <a:pt x="102107" y="9525"/>
                  </a:lnTo>
                  <a:lnTo>
                    <a:pt x="5587746" y="9525"/>
                  </a:lnTo>
                  <a:lnTo>
                    <a:pt x="5587746" y="0"/>
                  </a:lnTo>
                  <a:close/>
                </a:path>
                <a:path w="5690234" h="1247775">
                  <a:moveTo>
                    <a:pt x="5587746" y="1238250"/>
                  </a:moveTo>
                  <a:lnTo>
                    <a:pt x="102107" y="1238250"/>
                  </a:lnTo>
                  <a:lnTo>
                    <a:pt x="102107" y="1247775"/>
                  </a:lnTo>
                  <a:lnTo>
                    <a:pt x="5587746" y="1247775"/>
                  </a:lnTo>
                  <a:lnTo>
                    <a:pt x="5587746" y="1238250"/>
                  </a:lnTo>
                  <a:close/>
                </a:path>
                <a:path w="5690234" h="1247775">
                  <a:moveTo>
                    <a:pt x="5629872" y="1238250"/>
                  </a:moveTo>
                  <a:lnTo>
                    <a:pt x="5587746" y="1238250"/>
                  </a:lnTo>
                  <a:lnTo>
                    <a:pt x="5587746" y="1247775"/>
                  </a:lnTo>
                  <a:lnTo>
                    <a:pt x="5627451" y="1239860"/>
                  </a:lnTo>
                  <a:lnTo>
                    <a:pt x="5629872" y="1238250"/>
                  </a:lnTo>
                  <a:close/>
                </a:path>
                <a:path w="5690234" h="1247775">
                  <a:moveTo>
                    <a:pt x="5587746" y="0"/>
                  </a:moveTo>
                  <a:lnTo>
                    <a:pt x="5587746" y="9525"/>
                  </a:lnTo>
                  <a:lnTo>
                    <a:pt x="102107" y="9525"/>
                  </a:lnTo>
                  <a:lnTo>
                    <a:pt x="102107" y="19050"/>
                  </a:lnTo>
                  <a:lnTo>
                    <a:pt x="5587746" y="19050"/>
                  </a:lnTo>
                  <a:lnTo>
                    <a:pt x="5620135" y="25500"/>
                  </a:lnTo>
                  <a:lnTo>
                    <a:pt x="5646529" y="43076"/>
                  </a:lnTo>
                  <a:lnTo>
                    <a:pt x="5664296" y="69118"/>
                  </a:lnTo>
                  <a:lnTo>
                    <a:pt x="5670804" y="100965"/>
                  </a:lnTo>
                  <a:lnTo>
                    <a:pt x="5670804" y="1146809"/>
                  </a:lnTo>
                  <a:lnTo>
                    <a:pt x="5664296" y="1178656"/>
                  </a:lnTo>
                  <a:lnTo>
                    <a:pt x="5646529" y="1204698"/>
                  </a:lnTo>
                  <a:lnTo>
                    <a:pt x="5620135" y="1222274"/>
                  </a:lnTo>
                  <a:lnTo>
                    <a:pt x="5587746" y="1228725"/>
                  </a:lnTo>
                  <a:lnTo>
                    <a:pt x="5644183" y="1228725"/>
                  </a:lnTo>
                  <a:lnTo>
                    <a:pt x="5659912" y="1218257"/>
                  </a:lnTo>
                  <a:lnTo>
                    <a:pt x="5681816" y="1186170"/>
                  </a:lnTo>
                  <a:lnTo>
                    <a:pt x="5689854" y="1146809"/>
                  </a:lnTo>
                  <a:lnTo>
                    <a:pt x="5689854" y="100965"/>
                  </a:lnTo>
                  <a:lnTo>
                    <a:pt x="5681816" y="61598"/>
                  </a:lnTo>
                  <a:lnTo>
                    <a:pt x="5659912" y="29513"/>
                  </a:lnTo>
                  <a:lnTo>
                    <a:pt x="5627451" y="7912"/>
                  </a:lnTo>
                  <a:lnTo>
                    <a:pt x="5587746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2101956" y="1116210"/>
              <a:ext cx="76200" cy="1228725"/>
            </a:xfrm>
            <a:custGeom>
              <a:avLst/>
              <a:gdLst/>
              <a:ahLst/>
              <a:cxnLst/>
              <a:rect l="l" t="t" r="r" b="b"/>
              <a:pathLst>
                <a:path w="76200" h="1228725">
                  <a:moveTo>
                    <a:pt x="38099" y="0"/>
                  </a:moveTo>
                  <a:lnTo>
                    <a:pt x="23266" y="2992"/>
                  </a:lnTo>
                  <a:lnTo>
                    <a:pt x="11156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1190625"/>
                  </a:lnTo>
                  <a:lnTo>
                    <a:pt x="2992" y="1205456"/>
                  </a:lnTo>
                  <a:lnTo>
                    <a:pt x="11156" y="1217566"/>
                  </a:lnTo>
                  <a:lnTo>
                    <a:pt x="23266" y="1225731"/>
                  </a:lnTo>
                  <a:lnTo>
                    <a:pt x="38099" y="1228725"/>
                  </a:lnTo>
                  <a:lnTo>
                    <a:pt x="52933" y="1225731"/>
                  </a:lnTo>
                  <a:lnTo>
                    <a:pt x="65043" y="1217566"/>
                  </a:lnTo>
                  <a:lnTo>
                    <a:pt x="73206" y="1205456"/>
                  </a:lnTo>
                  <a:lnTo>
                    <a:pt x="76199" y="1190625"/>
                  </a:lnTo>
                  <a:lnTo>
                    <a:pt x="76199" y="38100"/>
                  </a:lnTo>
                  <a:lnTo>
                    <a:pt x="73206" y="23263"/>
                  </a:lnTo>
                  <a:lnTo>
                    <a:pt x="65043" y="11153"/>
                  </a:lnTo>
                  <a:lnTo>
                    <a:pt x="52933" y="2992"/>
                  </a:lnTo>
                  <a:lnTo>
                    <a:pt x="38099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2326187" y="1213799"/>
            <a:ext cx="4499610" cy="469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900"/>
              </a:lnSpc>
              <a:spcBef>
                <a:spcPts val="100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This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project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presents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novel,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lightweight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computational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framework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using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an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unsupervised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computer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vision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approach.</a:t>
            </a:r>
            <a:endParaRPr sz="10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83344" y="2543302"/>
            <a:ext cx="1856105" cy="765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latin typeface="Arial"/>
                <a:cs typeface="Arial"/>
              </a:rPr>
              <a:t>Methodology: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01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96044" y="3346106"/>
            <a:ext cx="5671185" cy="19050"/>
          </a:xfrm>
          <a:custGeom>
            <a:avLst/>
            <a:gdLst/>
            <a:ahLst/>
            <a:cxnLst/>
            <a:rect l="l" t="t" r="r" b="b"/>
            <a:pathLst>
              <a:path w="5671185" h="19050">
                <a:moveTo>
                  <a:pt x="5670804" y="0"/>
                </a:moveTo>
                <a:lnTo>
                  <a:pt x="0" y="0"/>
                </a:lnTo>
                <a:lnTo>
                  <a:pt x="0" y="19050"/>
                </a:lnTo>
                <a:lnTo>
                  <a:pt x="5670804" y="19050"/>
                </a:lnTo>
                <a:lnTo>
                  <a:pt x="5670804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83344" y="3439477"/>
            <a:ext cx="5605145" cy="506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Segmentation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Uses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SLIC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(Simple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Linear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Iterative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Clustering)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superpixels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VARI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(vegetation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index)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filter.</a:t>
            </a:r>
            <a:endParaRPr sz="10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295821" y="3123438"/>
            <a:ext cx="17399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02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6308521" y="3346106"/>
            <a:ext cx="5671185" cy="19050"/>
          </a:xfrm>
          <a:custGeom>
            <a:avLst/>
            <a:gdLst/>
            <a:ahLst/>
            <a:cxnLst/>
            <a:rect l="l" t="t" r="r" b="b"/>
            <a:pathLst>
              <a:path w="5671184" h="19050">
                <a:moveTo>
                  <a:pt x="5670804" y="0"/>
                </a:moveTo>
                <a:lnTo>
                  <a:pt x="0" y="0"/>
                </a:lnTo>
                <a:lnTo>
                  <a:pt x="0" y="19050"/>
                </a:lnTo>
                <a:lnTo>
                  <a:pt x="5670804" y="19050"/>
                </a:lnTo>
                <a:lnTo>
                  <a:pt x="5670804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295821" y="3439477"/>
            <a:ext cx="5613400" cy="728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Modeling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38900"/>
              </a:lnSpc>
              <a:spcBef>
                <a:spcPts val="355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Applies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physics-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based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model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calculate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predicted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temperature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drop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(ΔT)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each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canopy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based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on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its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size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health.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2145365" y="3123438"/>
            <a:ext cx="17399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03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2121006" y="3346106"/>
            <a:ext cx="5671185" cy="19050"/>
          </a:xfrm>
          <a:custGeom>
            <a:avLst/>
            <a:gdLst/>
            <a:ahLst/>
            <a:cxnLst/>
            <a:rect l="l" t="t" r="r" b="b"/>
            <a:pathLst>
              <a:path w="5671184" h="19050">
                <a:moveTo>
                  <a:pt x="5670804" y="0"/>
                </a:moveTo>
                <a:lnTo>
                  <a:pt x="0" y="0"/>
                </a:lnTo>
                <a:lnTo>
                  <a:pt x="0" y="19050"/>
                </a:lnTo>
                <a:lnTo>
                  <a:pt x="5670804" y="19050"/>
                </a:lnTo>
                <a:lnTo>
                  <a:pt x="5670804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2108306" y="3439477"/>
            <a:ext cx="1966595" cy="506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Visualization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Generates</a:t>
            </a:r>
            <a:r>
              <a:rPr dirty="0" sz="1050" spc="-4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4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virtual</a:t>
            </a:r>
            <a:r>
              <a:rPr dirty="0" sz="1050" spc="-4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thermal</a:t>
            </a:r>
            <a:r>
              <a:rPr dirty="0" sz="1050" spc="-4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map.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83344" y="4479848"/>
            <a:ext cx="104438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This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framework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provides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computationally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efficient,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scalable,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interpretable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alternative,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producing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quantitative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cooling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estimates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(in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°C)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enable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data-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driven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urban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planning.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994" y="4749368"/>
            <a:ext cx="7600226" cy="52000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FFFFF">
              <a:alpha val="7215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79538" y="1658518"/>
            <a:ext cx="3589020" cy="8712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50" spc="-10"/>
              <a:t>Objectives</a:t>
            </a:r>
            <a:endParaRPr sz="5550"/>
          </a:p>
        </p:txBody>
      </p:sp>
      <p:grpSp>
        <p:nvGrpSpPr>
          <p:cNvPr id="5" name="object 5" descr=""/>
          <p:cNvGrpSpPr/>
          <p:nvPr/>
        </p:nvGrpSpPr>
        <p:grpSpPr>
          <a:xfrm>
            <a:off x="987474" y="2985935"/>
            <a:ext cx="647700" cy="647700"/>
            <a:chOff x="987474" y="2985935"/>
            <a:chExt cx="647700" cy="647700"/>
          </a:xfrm>
        </p:grpSpPr>
        <p:sp>
          <p:nvSpPr>
            <p:cNvPr id="6" name="object 6" descr=""/>
            <p:cNvSpPr/>
            <p:nvPr/>
          </p:nvSpPr>
          <p:spPr>
            <a:xfrm>
              <a:off x="992237" y="2990697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518826" y="0"/>
                  </a:moveTo>
                  <a:lnTo>
                    <a:pt x="119062" y="0"/>
                  </a:lnTo>
                  <a:lnTo>
                    <a:pt x="72732" y="9361"/>
                  </a:lnTo>
                  <a:lnTo>
                    <a:pt x="34885" y="34885"/>
                  </a:lnTo>
                  <a:lnTo>
                    <a:pt x="9361" y="72732"/>
                  </a:lnTo>
                  <a:lnTo>
                    <a:pt x="0" y="119062"/>
                  </a:lnTo>
                  <a:lnTo>
                    <a:pt x="0" y="518820"/>
                  </a:lnTo>
                  <a:lnTo>
                    <a:pt x="9361" y="565150"/>
                  </a:lnTo>
                  <a:lnTo>
                    <a:pt x="34885" y="602997"/>
                  </a:lnTo>
                  <a:lnTo>
                    <a:pt x="72732" y="628521"/>
                  </a:lnTo>
                  <a:lnTo>
                    <a:pt x="119062" y="637882"/>
                  </a:lnTo>
                  <a:lnTo>
                    <a:pt x="518826" y="637882"/>
                  </a:lnTo>
                  <a:lnTo>
                    <a:pt x="565156" y="628521"/>
                  </a:lnTo>
                  <a:lnTo>
                    <a:pt x="603003" y="602997"/>
                  </a:lnTo>
                  <a:lnTo>
                    <a:pt x="628527" y="565150"/>
                  </a:lnTo>
                  <a:lnTo>
                    <a:pt x="637889" y="518820"/>
                  </a:lnTo>
                  <a:lnTo>
                    <a:pt x="637889" y="119062"/>
                  </a:lnTo>
                  <a:lnTo>
                    <a:pt x="628527" y="72732"/>
                  </a:lnTo>
                  <a:lnTo>
                    <a:pt x="603003" y="34885"/>
                  </a:lnTo>
                  <a:lnTo>
                    <a:pt x="565156" y="9361"/>
                  </a:lnTo>
                  <a:lnTo>
                    <a:pt x="518826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87474" y="2985935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523589" y="0"/>
                  </a:moveTo>
                  <a:lnTo>
                    <a:pt x="123824" y="0"/>
                  </a:lnTo>
                  <a:lnTo>
                    <a:pt x="75625" y="9730"/>
                  </a:lnTo>
                  <a:lnTo>
                    <a:pt x="36266" y="36266"/>
                  </a:lnTo>
                  <a:lnTo>
                    <a:pt x="9730" y="75625"/>
                  </a:lnTo>
                  <a:lnTo>
                    <a:pt x="0" y="123825"/>
                  </a:lnTo>
                  <a:lnTo>
                    <a:pt x="0" y="523582"/>
                  </a:lnTo>
                  <a:lnTo>
                    <a:pt x="9730" y="571782"/>
                  </a:lnTo>
                  <a:lnTo>
                    <a:pt x="36266" y="611141"/>
                  </a:lnTo>
                  <a:lnTo>
                    <a:pt x="75625" y="637677"/>
                  </a:lnTo>
                  <a:lnTo>
                    <a:pt x="123824" y="647407"/>
                  </a:lnTo>
                  <a:lnTo>
                    <a:pt x="123824" y="642645"/>
                  </a:lnTo>
                  <a:lnTo>
                    <a:pt x="547180" y="642645"/>
                  </a:lnTo>
                  <a:lnTo>
                    <a:pt x="570771" y="637882"/>
                  </a:lnTo>
                  <a:lnTo>
                    <a:pt x="123824" y="637882"/>
                  </a:lnTo>
                  <a:lnTo>
                    <a:pt x="79323" y="628904"/>
                  </a:lnTo>
                  <a:lnTo>
                    <a:pt x="42993" y="604416"/>
                  </a:lnTo>
                  <a:lnTo>
                    <a:pt x="18503" y="568086"/>
                  </a:lnTo>
                  <a:lnTo>
                    <a:pt x="9524" y="523582"/>
                  </a:lnTo>
                  <a:lnTo>
                    <a:pt x="9524" y="123825"/>
                  </a:lnTo>
                  <a:lnTo>
                    <a:pt x="18503" y="79321"/>
                  </a:lnTo>
                  <a:lnTo>
                    <a:pt x="42993" y="42991"/>
                  </a:lnTo>
                  <a:lnTo>
                    <a:pt x="79323" y="18502"/>
                  </a:lnTo>
                  <a:lnTo>
                    <a:pt x="123824" y="9525"/>
                  </a:lnTo>
                  <a:lnTo>
                    <a:pt x="123824" y="4762"/>
                  </a:lnTo>
                  <a:lnTo>
                    <a:pt x="523589" y="4762"/>
                  </a:lnTo>
                  <a:lnTo>
                    <a:pt x="523589" y="0"/>
                  </a:lnTo>
                  <a:close/>
                </a:path>
                <a:path w="647700" h="647700">
                  <a:moveTo>
                    <a:pt x="523589" y="642645"/>
                  </a:moveTo>
                  <a:lnTo>
                    <a:pt x="123824" y="642645"/>
                  </a:lnTo>
                  <a:lnTo>
                    <a:pt x="123824" y="647407"/>
                  </a:lnTo>
                  <a:lnTo>
                    <a:pt x="523589" y="647407"/>
                  </a:lnTo>
                  <a:lnTo>
                    <a:pt x="523589" y="642645"/>
                  </a:lnTo>
                  <a:close/>
                </a:path>
                <a:path w="647700" h="647700">
                  <a:moveTo>
                    <a:pt x="547180" y="642645"/>
                  </a:moveTo>
                  <a:lnTo>
                    <a:pt x="523589" y="642645"/>
                  </a:lnTo>
                  <a:lnTo>
                    <a:pt x="523589" y="647407"/>
                  </a:lnTo>
                  <a:lnTo>
                    <a:pt x="547180" y="642645"/>
                  </a:lnTo>
                  <a:close/>
                </a:path>
                <a:path w="647700" h="647700">
                  <a:moveTo>
                    <a:pt x="523589" y="0"/>
                  </a:moveTo>
                  <a:lnTo>
                    <a:pt x="523589" y="4762"/>
                  </a:lnTo>
                  <a:lnTo>
                    <a:pt x="123824" y="4762"/>
                  </a:lnTo>
                  <a:lnTo>
                    <a:pt x="123824" y="9525"/>
                  </a:lnTo>
                  <a:lnTo>
                    <a:pt x="523589" y="9525"/>
                  </a:lnTo>
                  <a:lnTo>
                    <a:pt x="568090" y="18502"/>
                  </a:lnTo>
                  <a:lnTo>
                    <a:pt x="604420" y="42991"/>
                  </a:lnTo>
                  <a:lnTo>
                    <a:pt x="628910" y="79321"/>
                  </a:lnTo>
                  <a:lnTo>
                    <a:pt x="637889" y="123825"/>
                  </a:lnTo>
                  <a:lnTo>
                    <a:pt x="637889" y="523582"/>
                  </a:lnTo>
                  <a:lnTo>
                    <a:pt x="628910" y="568086"/>
                  </a:lnTo>
                  <a:lnTo>
                    <a:pt x="604420" y="604416"/>
                  </a:lnTo>
                  <a:lnTo>
                    <a:pt x="568090" y="628904"/>
                  </a:lnTo>
                  <a:lnTo>
                    <a:pt x="523589" y="637882"/>
                  </a:lnTo>
                  <a:lnTo>
                    <a:pt x="570771" y="637882"/>
                  </a:lnTo>
                  <a:lnTo>
                    <a:pt x="571788" y="637677"/>
                  </a:lnTo>
                  <a:lnTo>
                    <a:pt x="611147" y="611141"/>
                  </a:lnTo>
                  <a:lnTo>
                    <a:pt x="637683" y="571782"/>
                  </a:lnTo>
                  <a:lnTo>
                    <a:pt x="647414" y="523582"/>
                  </a:lnTo>
                  <a:lnTo>
                    <a:pt x="647414" y="123825"/>
                  </a:lnTo>
                  <a:lnTo>
                    <a:pt x="637683" y="75625"/>
                  </a:lnTo>
                  <a:lnTo>
                    <a:pt x="611147" y="36266"/>
                  </a:lnTo>
                  <a:lnTo>
                    <a:pt x="571788" y="9730"/>
                  </a:lnTo>
                  <a:lnTo>
                    <a:pt x="523589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182115" y="3002762"/>
            <a:ext cx="259079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50" b="1">
                <a:solidFill>
                  <a:srgbClr val="272424"/>
                </a:solidFill>
                <a:latin typeface="Arial"/>
                <a:cs typeface="Arial"/>
              </a:rPr>
              <a:t>1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900935" y="3066288"/>
            <a:ext cx="6840855" cy="2356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680845">
              <a:lnSpc>
                <a:spcPts val="3440"/>
              </a:lnSpc>
              <a:spcBef>
                <a:spcPts val="95"/>
              </a:spcBef>
            </a:pPr>
            <a:r>
              <a:rPr dirty="0" sz="2750" b="1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2750" spc="-20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272424"/>
                </a:solidFill>
                <a:latin typeface="Arial"/>
                <a:cs typeface="Arial"/>
              </a:rPr>
              <a:t>implement</a:t>
            </a:r>
            <a:r>
              <a:rPr dirty="0" sz="2750" spc="-10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272424"/>
                </a:solidFill>
                <a:latin typeface="Arial"/>
                <a:cs typeface="Arial"/>
              </a:rPr>
              <a:t>an</a:t>
            </a:r>
            <a:r>
              <a:rPr dirty="0" sz="2750" spc="-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272424"/>
                </a:solidFill>
                <a:latin typeface="Arial"/>
                <a:cs typeface="Arial"/>
              </a:rPr>
              <a:t>unsupervised </a:t>
            </a:r>
            <a:r>
              <a:rPr dirty="0" sz="2750" b="1">
                <a:solidFill>
                  <a:srgbClr val="272424"/>
                </a:solidFill>
                <a:latin typeface="Arial"/>
                <a:cs typeface="Arial"/>
              </a:rPr>
              <a:t>segmentation</a:t>
            </a:r>
            <a:r>
              <a:rPr dirty="0" sz="2750" spc="-3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272424"/>
                </a:solidFill>
                <a:latin typeface="Arial"/>
                <a:cs typeface="Arial"/>
              </a:rPr>
              <a:t>pipeline: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4900"/>
              </a:lnSpc>
              <a:spcBef>
                <a:spcPts val="790"/>
              </a:spcBef>
            </a:pP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Use</a:t>
            </a:r>
            <a:r>
              <a:rPr dirty="0" sz="2200" spc="-5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SLIC</a:t>
            </a:r>
            <a:r>
              <a:rPr dirty="0" sz="220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superpixels</a:t>
            </a:r>
            <a:r>
              <a:rPr dirty="0" sz="220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220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220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VARI</a:t>
            </a:r>
            <a:r>
              <a:rPr dirty="0" sz="220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filter</a:t>
            </a:r>
            <a:r>
              <a:rPr dirty="0" sz="220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220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72424"/>
                </a:solidFill>
                <a:latin typeface="Arial"/>
                <a:cs typeface="Arial"/>
              </a:rPr>
              <a:t>automatically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identify</a:t>
            </a:r>
            <a:r>
              <a:rPr dirty="0" sz="2200" spc="-7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2200" spc="-7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isolate</a:t>
            </a:r>
            <a:r>
              <a:rPr dirty="0" sz="2200" spc="-7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tree</a:t>
            </a:r>
            <a:r>
              <a:rPr dirty="0" sz="22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canopies</a:t>
            </a:r>
            <a:r>
              <a:rPr dirty="0" sz="2200" spc="-7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without</a:t>
            </a:r>
            <a:r>
              <a:rPr dirty="0" sz="2200" spc="-7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72424"/>
                </a:solidFill>
                <a:latin typeface="Arial"/>
                <a:cs typeface="Arial"/>
              </a:rPr>
              <a:t>manual labeling.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9316339" y="2985935"/>
            <a:ext cx="647700" cy="647700"/>
            <a:chOff x="9316339" y="2985935"/>
            <a:chExt cx="647700" cy="647700"/>
          </a:xfrm>
        </p:grpSpPr>
        <p:sp>
          <p:nvSpPr>
            <p:cNvPr id="11" name="object 11" descr=""/>
            <p:cNvSpPr/>
            <p:nvPr/>
          </p:nvSpPr>
          <p:spPr>
            <a:xfrm>
              <a:off x="9321101" y="2990697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518826" y="0"/>
                  </a:moveTo>
                  <a:lnTo>
                    <a:pt x="119062" y="0"/>
                  </a:lnTo>
                  <a:lnTo>
                    <a:pt x="72732" y="9361"/>
                  </a:lnTo>
                  <a:lnTo>
                    <a:pt x="34885" y="34885"/>
                  </a:lnTo>
                  <a:lnTo>
                    <a:pt x="9361" y="72732"/>
                  </a:lnTo>
                  <a:lnTo>
                    <a:pt x="0" y="119062"/>
                  </a:lnTo>
                  <a:lnTo>
                    <a:pt x="0" y="518820"/>
                  </a:lnTo>
                  <a:lnTo>
                    <a:pt x="9361" y="565150"/>
                  </a:lnTo>
                  <a:lnTo>
                    <a:pt x="34885" y="602997"/>
                  </a:lnTo>
                  <a:lnTo>
                    <a:pt x="72732" y="628521"/>
                  </a:lnTo>
                  <a:lnTo>
                    <a:pt x="119062" y="637882"/>
                  </a:lnTo>
                  <a:lnTo>
                    <a:pt x="518826" y="637882"/>
                  </a:lnTo>
                  <a:lnTo>
                    <a:pt x="565156" y="628521"/>
                  </a:lnTo>
                  <a:lnTo>
                    <a:pt x="603003" y="602997"/>
                  </a:lnTo>
                  <a:lnTo>
                    <a:pt x="628527" y="565150"/>
                  </a:lnTo>
                  <a:lnTo>
                    <a:pt x="637889" y="518820"/>
                  </a:lnTo>
                  <a:lnTo>
                    <a:pt x="637889" y="119062"/>
                  </a:lnTo>
                  <a:lnTo>
                    <a:pt x="628527" y="72732"/>
                  </a:lnTo>
                  <a:lnTo>
                    <a:pt x="603003" y="34885"/>
                  </a:lnTo>
                  <a:lnTo>
                    <a:pt x="565156" y="9361"/>
                  </a:lnTo>
                  <a:lnTo>
                    <a:pt x="518826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316339" y="2985935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523589" y="0"/>
                  </a:moveTo>
                  <a:lnTo>
                    <a:pt x="123824" y="0"/>
                  </a:lnTo>
                  <a:lnTo>
                    <a:pt x="75625" y="9730"/>
                  </a:lnTo>
                  <a:lnTo>
                    <a:pt x="36266" y="36266"/>
                  </a:lnTo>
                  <a:lnTo>
                    <a:pt x="9730" y="75625"/>
                  </a:lnTo>
                  <a:lnTo>
                    <a:pt x="0" y="123825"/>
                  </a:lnTo>
                  <a:lnTo>
                    <a:pt x="0" y="523582"/>
                  </a:lnTo>
                  <a:lnTo>
                    <a:pt x="9730" y="571782"/>
                  </a:lnTo>
                  <a:lnTo>
                    <a:pt x="36266" y="611141"/>
                  </a:lnTo>
                  <a:lnTo>
                    <a:pt x="75625" y="637677"/>
                  </a:lnTo>
                  <a:lnTo>
                    <a:pt x="123824" y="647407"/>
                  </a:lnTo>
                  <a:lnTo>
                    <a:pt x="123824" y="642645"/>
                  </a:lnTo>
                  <a:lnTo>
                    <a:pt x="547180" y="642645"/>
                  </a:lnTo>
                  <a:lnTo>
                    <a:pt x="570771" y="637882"/>
                  </a:lnTo>
                  <a:lnTo>
                    <a:pt x="123824" y="637882"/>
                  </a:lnTo>
                  <a:lnTo>
                    <a:pt x="79323" y="628904"/>
                  </a:lnTo>
                  <a:lnTo>
                    <a:pt x="42993" y="604416"/>
                  </a:lnTo>
                  <a:lnTo>
                    <a:pt x="18503" y="568086"/>
                  </a:lnTo>
                  <a:lnTo>
                    <a:pt x="9524" y="523582"/>
                  </a:lnTo>
                  <a:lnTo>
                    <a:pt x="9524" y="123825"/>
                  </a:lnTo>
                  <a:lnTo>
                    <a:pt x="18503" y="79321"/>
                  </a:lnTo>
                  <a:lnTo>
                    <a:pt x="42993" y="42991"/>
                  </a:lnTo>
                  <a:lnTo>
                    <a:pt x="79323" y="18502"/>
                  </a:lnTo>
                  <a:lnTo>
                    <a:pt x="123824" y="9525"/>
                  </a:lnTo>
                  <a:lnTo>
                    <a:pt x="123824" y="4762"/>
                  </a:lnTo>
                  <a:lnTo>
                    <a:pt x="523589" y="4762"/>
                  </a:lnTo>
                  <a:lnTo>
                    <a:pt x="523589" y="0"/>
                  </a:lnTo>
                  <a:close/>
                </a:path>
                <a:path w="647700" h="647700">
                  <a:moveTo>
                    <a:pt x="523589" y="642645"/>
                  </a:moveTo>
                  <a:lnTo>
                    <a:pt x="123824" y="642645"/>
                  </a:lnTo>
                  <a:lnTo>
                    <a:pt x="123824" y="647407"/>
                  </a:lnTo>
                  <a:lnTo>
                    <a:pt x="523589" y="647407"/>
                  </a:lnTo>
                  <a:lnTo>
                    <a:pt x="523589" y="642645"/>
                  </a:lnTo>
                  <a:close/>
                </a:path>
                <a:path w="647700" h="647700">
                  <a:moveTo>
                    <a:pt x="547180" y="642645"/>
                  </a:moveTo>
                  <a:lnTo>
                    <a:pt x="523589" y="642645"/>
                  </a:lnTo>
                  <a:lnTo>
                    <a:pt x="523589" y="647407"/>
                  </a:lnTo>
                  <a:lnTo>
                    <a:pt x="547180" y="642645"/>
                  </a:lnTo>
                  <a:close/>
                </a:path>
                <a:path w="647700" h="647700">
                  <a:moveTo>
                    <a:pt x="523589" y="0"/>
                  </a:moveTo>
                  <a:lnTo>
                    <a:pt x="523589" y="4762"/>
                  </a:lnTo>
                  <a:lnTo>
                    <a:pt x="123824" y="4762"/>
                  </a:lnTo>
                  <a:lnTo>
                    <a:pt x="123824" y="9525"/>
                  </a:lnTo>
                  <a:lnTo>
                    <a:pt x="523589" y="9525"/>
                  </a:lnTo>
                  <a:lnTo>
                    <a:pt x="568090" y="18502"/>
                  </a:lnTo>
                  <a:lnTo>
                    <a:pt x="604421" y="42991"/>
                  </a:lnTo>
                  <a:lnTo>
                    <a:pt x="628910" y="79321"/>
                  </a:lnTo>
                  <a:lnTo>
                    <a:pt x="637889" y="123825"/>
                  </a:lnTo>
                  <a:lnTo>
                    <a:pt x="637889" y="523582"/>
                  </a:lnTo>
                  <a:lnTo>
                    <a:pt x="628910" y="568086"/>
                  </a:lnTo>
                  <a:lnTo>
                    <a:pt x="604421" y="604416"/>
                  </a:lnTo>
                  <a:lnTo>
                    <a:pt x="568090" y="628904"/>
                  </a:lnTo>
                  <a:lnTo>
                    <a:pt x="523589" y="637882"/>
                  </a:lnTo>
                  <a:lnTo>
                    <a:pt x="570771" y="637882"/>
                  </a:lnTo>
                  <a:lnTo>
                    <a:pt x="571788" y="637677"/>
                  </a:lnTo>
                  <a:lnTo>
                    <a:pt x="611148" y="611141"/>
                  </a:lnTo>
                  <a:lnTo>
                    <a:pt x="637684" y="571782"/>
                  </a:lnTo>
                  <a:lnTo>
                    <a:pt x="647415" y="523582"/>
                  </a:lnTo>
                  <a:lnTo>
                    <a:pt x="647415" y="123825"/>
                  </a:lnTo>
                  <a:lnTo>
                    <a:pt x="637684" y="75625"/>
                  </a:lnTo>
                  <a:lnTo>
                    <a:pt x="611148" y="36266"/>
                  </a:lnTo>
                  <a:lnTo>
                    <a:pt x="571788" y="9730"/>
                  </a:lnTo>
                  <a:lnTo>
                    <a:pt x="523589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9510979" y="3002762"/>
            <a:ext cx="259079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50" b="1">
                <a:solidFill>
                  <a:srgbClr val="272424"/>
                </a:solidFill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987474" y="6077839"/>
            <a:ext cx="647700" cy="647700"/>
            <a:chOff x="987474" y="6077839"/>
            <a:chExt cx="647700" cy="647700"/>
          </a:xfrm>
        </p:grpSpPr>
        <p:sp>
          <p:nvSpPr>
            <p:cNvPr id="15" name="object 15" descr=""/>
            <p:cNvSpPr/>
            <p:nvPr/>
          </p:nvSpPr>
          <p:spPr>
            <a:xfrm>
              <a:off x="992237" y="6082601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518826" y="0"/>
                  </a:moveTo>
                  <a:lnTo>
                    <a:pt x="119062" y="0"/>
                  </a:lnTo>
                  <a:lnTo>
                    <a:pt x="72732" y="9361"/>
                  </a:lnTo>
                  <a:lnTo>
                    <a:pt x="34885" y="34885"/>
                  </a:lnTo>
                  <a:lnTo>
                    <a:pt x="9361" y="72732"/>
                  </a:lnTo>
                  <a:lnTo>
                    <a:pt x="0" y="119062"/>
                  </a:lnTo>
                  <a:lnTo>
                    <a:pt x="0" y="518820"/>
                  </a:lnTo>
                  <a:lnTo>
                    <a:pt x="9361" y="565150"/>
                  </a:lnTo>
                  <a:lnTo>
                    <a:pt x="34885" y="602997"/>
                  </a:lnTo>
                  <a:lnTo>
                    <a:pt x="72732" y="628521"/>
                  </a:lnTo>
                  <a:lnTo>
                    <a:pt x="119062" y="637882"/>
                  </a:lnTo>
                  <a:lnTo>
                    <a:pt x="518826" y="637882"/>
                  </a:lnTo>
                  <a:lnTo>
                    <a:pt x="565156" y="628521"/>
                  </a:lnTo>
                  <a:lnTo>
                    <a:pt x="603003" y="602997"/>
                  </a:lnTo>
                  <a:lnTo>
                    <a:pt x="628527" y="565150"/>
                  </a:lnTo>
                  <a:lnTo>
                    <a:pt x="637889" y="518820"/>
                  </a:lnTo>
                  <a:lnTo>
                    <a:pt x="637889" y="119062"/>
                  </a:lnTo>
                  <a:lnTo>
                    <a:pt x="628527" y="72732"/>
                  </a:lnTo>
                  <a:lnTo>
                    <a:pt x="603003" y="34885"/>
                  </a:lnTo>
                  <a:lnTo>
                    <a:pt x="565156" y="9361"/>
                  </a:lnTo>
                  <a:lnTo>
                    <a:pt x="518826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87474" y="6077839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523589" y="0"/>
                  </a:moveTo>
                  <a:lnTo>
                    <a:pt x="123824" y="0"/>
                  </a:lnTo>
                  <a:lnTo>
                    <a:pt x="75625" y="9730"/>
                  </a:lnTo>
                  <a:lnTo>
                    <a:pt x="36266" y="36266"/>
                  </a:lnTo>
                  <a:lnTo>
                    <a:pt x="9730" y="75625"/>
                  </a:lnTo>
                  <a:lnTo>
                    <a:pt x="0" y="123825"/>
                  </a:lnTo>
                  <a:lnTo>
                    <a:pt x="0" y="523582"/>
                  </a:lnTo>
                  <a:lnTo>
                    <a:pt x="9730" y="571782"/>
                  </a:lnTo>
                  <a:lnTo>
                    <a:pt x="36266" y="611141"/>
                  </a:lnTo>
                  <a:lnTo>
                    <a:pt x="75625" y="637677"/>
                  </a:lnTo>
                  <a:lnTo>
                    <a:pt x="123824" y="647407"/>
                  </a:lnTo>
                  <a:lnTo>
                    <a:pt x="123824" y="642645"/>
                  </a:lnTo>
                  <a:lnTo>
                    <a:pt x="547180" y="642645"/>
                  </a:lnTo>
                  <a:lnTo>
                    <a:pt x="570771" y="637882"/>
                  </a:lnTo>
                  <a:lnTo>
                    <a:pt x="123824" y="637882"/>
                  </a:lnTo>
                  <a:lnTo>
                    <a:pt x="79323" y="628904"/>
                  </a:lnTo>
                  <a:lnTo>
                    <a:pt x="42993" y="604416"/>
                  </a:lnTo>
                  <a:lnTo>
                    <a:pt x="18503" y="568086"/>
                  </a:lnTo>
                  <a:lnTo>
                    <a:pt x="9524" y="523582"/>
                  </a:lnTo>
                  <a:lnTo>
                    <a:pt x="9524" y="123825"/>
                  </a:lnTo>
                  <a:lnTo>
                    <a:pt x="18503" y="79321"/>
                  </a:lnTo>
                  <a:lnTo>
                    <a:pt x="42993" y="42991"/>
                  </a:lnTo>
                  <a:lnTo>
                    <a:pt x="79323" y="18502"/>
                  </a:lnTo>
                  <a:lnTo>
                    <a:pt x="123824" y="9525"/>
                  </a:lnTo>
                  <a:lnTo>
                    <a:pt x="123824" y="4762"/>
                  </a:lnTo>
                  <a:lnTo>
                    <a:pt x="523589" y="4762"/>
                  </a:lnTo>
                  <a:lnTo>
                    <a:pt x="523589" y="0"/>
                  </a:lnTo>
                  <a:close/>
                </a:path>
                <a:path w="647700" h="647700">
                  <a:moveTo>
                    <a:pt x="523589" y="642645"/>
                  </a:moveTo>
                  <a:lnTo>
                    <a:pt x="123824" y="642645"/>
                  </a:lnTo>
                  <a:lnTo>
                    <a:pt x="123824" y="647407"/>
                  </a:lnTo>
                  <a:lnTo>
                    <a:pt x="523589" y="647407"/>
                  </a:lnTo>
                  <a:lnTo>
                    <a:pt x="523589" y="642645"/>
                  </a:lnTo>
                  <a:close/>
                </a:path>
                <a:path w="647700" h="647700">
                  <a:moveTo>
                    <a:pt x="547180" y="642645"/>
                  </a:moveTo>
                  <a:lnTo>
                    <a:pt x="523589" y="642645"/>
                  </a:lnTo>
                  <a:lnTo>
                    <a:pt x="523589" y="647407"/>
                  </a:lnTo>
                  <a:lnTo>
                    <a:pt x="547180" y="642645"/>
                  </a:lnTo>
                  <a:close/>
                </a:path>
                <a:path w="647700" h="647700">
                  <a:moveTo>
                    <a:pt x="523589" y="0"/>
                  </a:moveTo>
                  <a:lnTo>
                    <a:pt x="523589" y="4762"/>
                  </a:lnTo>
                  <a:lnTo>
                    <a:pt x="123824" y="4762"/>
                  </a:lnTo>
                  <a:lnTo>
                    <a:pt x="123824" y="9525"/>
                  </a:lnTo>
                  <a:lnTo>
                    <a:pt x="523589" y="9525"/>
                  </a:lnTo>
                  <a:lnTo>
                    <a:pt x="568090" y="18502"/>
                  </a:lnTo>
                  <a:lnTo>
                    <a:pt x="604420" y="42991"/>
                  </a:lnTo>
                  <a:lnTo>
                    <a:pt x="628910" y="79321"/>
                  </a:lnTo>
                  <a:lnTo>
                    <a:pt x="637889" y="123825"/>
                  </a:lnTo>
                  <a:lnTo>
                    <a:pt x="637889" y="523582"/>
                  </a:lnTo>
                  <a:lnTo>
                    <a:pt x="628910" y="568086"/>
                  </a:lnTo>
                  <a:lnTo>
                    <a:pt x="604420" y="604416"/>
                  </a:lnTo>
                  <a:lnTo>
                    <a:pt x="568090" y="628904"/>
                  </a:lnTo>
                  <a:lnTo>
                    <a:pt x="523589" y="637882"/>
                  </a:lnTo>
                  <a:lnTo>
                    <a:pt x="570771" y="637882"/>
                  </a:lnTo>
                  <a:lnTo>
                    <a:pt x="571788" y="637677"/>
                  </a:lnTo>
                  <a:lnTo>
                    <a:pt x="611147" y="611141"/>
                  </a:lnTo>
                  <a:lnTo>
                    <a:pt x="637683" y="571782"/>
                  </a:lnTo>
                  <a:lnTo>
                    <a:pt x="647414" y="523582"/>
                  </a:lnTo>
                  <a:lnTo>
                    <a:pt x="647414" y="123825"/>
                  </a:lnTo>
                  <a:lnTo>
                    <a:pt x="637683" y="75625"/>
                  </a:lnTo>
                  <a:lnTo>
                    <a:pt x="611147" y="36266"/>
                  </a:lnTo>
                  <a:lnTo>
                    <a:pt x="571788" y="9730"/>
                  </a:lnTo>
                  <a:lnTo>
                    <a:pt x="523589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182115" y="6164516"/>
            <a:ext cx="7604759" cy="19069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10"/>
              </a:lnSpc>
              <a:tabLst>
                <a:tab pos="730885" algn="l"/>
              </a:tabLst>
            </a:pPr>
            <a:r>
              <a:rPr dirty="0" sz="3300" spc="-50" b="1">
                <a:solidFill>
                  <a:srgbClr val="272424"/>
                </a:solidFill>
                <a:latin typeface="Arial"/>
                <a:cs typeface="Arial"/>
              </a:rPr>
              <a:t>3</a:t>
            </a:r>
            <a:r>
              <a:rPr dirty="0" sz="3300" b="1">
                <a:solidFill>
                  <a:srgbClr val="272424"/>
                </a:solidFill>
                <a:latin typeface="Arial"/>
                <a:cs typeface="Arial"/>
              </a:rPr>
              <a:t>	</a:t>
            </a:r>
            <a:r>
              <a:rPr dirty="0" baseline="1010" sz="4125" b="1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baseline="1010" sz="4125" spc="-22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baseline="1010" sz="4125" b="1">
                <a:solidFill>
                  <a:srgbClr val="272424"/>
                </a:solidFill>
                <a:latin typeface="Arial"/>
                <a:cs typeface="Arial"/>
              </a:rPr>
              <a:t>create</a:t>
            </a:r>
            <a:r>
              <a:rPr dirty="0" baseline="1010" sz="4125" spc="-22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baseline="1010" sz="4125" b="1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baseline="1010" sz="4125" spc="-22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baseline="1010" sz="4125" b="1">
                <a:solidFill>
                  <a:srgbClr val="272424"/>
                </a:solidFill>
                <a:latin typeface="Arial"/>
                <a:cs typeface="Arial"/>
              </a:rPr>
              <a:t>visualization</a:t>
            </a:r>
            <a:r>
              <a:rPr dirty="0" baseline="1010" sz="4125" spc="-15" b="1">
                <a:solidFill>
                  <a:srgbClr val="272424"/>
                </a:solidFill>
                <a:latin typeface="Arial"/>
                <a:cs typeface="Arial"/>
              </a:rPr>
              <a:t> module:</a:t>
            </a:r>
            <a:endParaRPr baseline="1010" sz="4125">
              <a:latin typeface="Arial"/>
              <a:cs typeface="Arial"/>
            </a:endParaRPr>
          </a:p>
          <a:p>
            <a:pPr marL="731520" marR="5080">
              <a:lnSpc>
                <a:spcPct val="134900"/>
              </a:lnSpc>
              <a:spcBef>
                <a:spcPts val="715"/>
              </a:spcBef>
            </a:pP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Generate</a:t>
            </a:r>
            <a:r>
              <a:rPr dirty="0" sz="2200" spc="-1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intuitive,</a:t>
            </a:r>
            <a:r>
              <a:rPr dirty="0" sz="2200" spc="-1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272424"/>
                </a:solidFill>
                <a:latin typeface="Arial"/>
                <a:cs typeface="Arial"/>
              </a:rPr>
              <a:t>human-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readable</a:t>
            </a:r>
            <a:r>
              <a:rPr dirty="0" sz="2200" spc="-10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outputs,</a:t>
            </a:r>
            <a:r>
              <a:rPr dirty="0" sz="2200" spc="-1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including</a:t>
            </a:r>
            <a:r>
              <a:rPr dirty="0" sz="2200" spc="-10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50">
                <a:solidFill>
                  <a:srgbClr val="272424"/>
                </a:solidFill>
                <a:latin typeface="Arial"/>
                <a:cs typeface="Arial"/>
              </a:rPr>
              <a:t>a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"Virtual</a:t>
            </a:r>
            <a:r>
              <a:rPr dirty="0" sz="2200" spc="-7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Thermal</a:t>
            </a:r>
            <a:r>
              <a:rPr dirty="0" sz="2200" spc="-7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Map"</a:t>
            </a:r>
            <a:r>
              <a:rPr dirty="0" sz="22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2200" spc="-7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an</a:t>
            </a:r>
            <a:r>
              <a:rPr dirty="0" sz="22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"Annotated"</a:t>
            </a:r>
            <a:r>
              <a:rPr dirty="0" sz="2200" spc="-7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72424"/>
                </a:solidFill>
                <a:latin typeface="Arial"/>
                <a:cs typeface="Arial"/>
              </a:rPr>
              <a:t>image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labeling</a:t>
            </a:r>
            <a:r>
              <a:rPr dirty="0" sz="2200" spc="-7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each</a:t>
            </a:r>
            <a:r>
              <a:rPr dirty="0" sz="2200" spc="-7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tree</a:t>
            </a:r>
            <a:r>
              <a:rPr dirty="0" sz="22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with</a:t>
            </a:r>
            <a:r>
              <a:rPr dirty="0" sz="2200" spc="-7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its</a:t>
            </a:r>
            <a:r>
              <a:rPr dirty="0" sz="22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predicted</a:t>
            </a:r>
            <a:r>
              <a:rPr dirty="0" sz="2200" spc="-7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cooling</a:t>
            </a:r>
            <a:r>
              <a:rPr dirty="0" sz="22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72424"/>
                </a:solidFill>
                <a:latin typeface="Arial"/>
                <a:cs typeface="Arial"/>
              </a:rPr>
              <a:t>value.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9316339" y="6077839"/>
            <a:ext cx="647700" cy="647700"/>
            <a:chOff x="9316339" y="6077839"/>
            <a:chExt cx="647700" cy="647700"/>
          </a:xfrm>
        </p:grpSpPr>
        <p:sp>
          <p:nvSpPr>
            <p:cNvPr id="19" name="object 19" descr=""/>
            <p:cNvSpPr/>
            <p:nvPr/>
          </p:nvSpPr>
          <p:spPr>
            <a:xfrm>
              <a:off x="9321101" y="6082601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518826" y="0"/>
                  </a:moveTo>
                  <a:lnTo>
                    <a:pt x="119062" y="0"/>
                  </a:lnTo>
                  <a:lnTo>
                    <a:pt x="72732" y="9361"/>
                  </a:lnTo>
                  <a:lnTo>
                    <a:pt x="34885" y="34885"/>
                  </a:lnTo>
                  <a:lnTo>
                    <a:pt x="9361" y="72732"/>
                  </a:lnTo>
                  <a:lnTo>
                    <a:pt x="0" y="119062"/>
                  </a:lnTo>
                  <a:lnTo>
                    <a:pt x="0" y="518820"/>
                  </a:lnTo>
                  <a:lnTo>
                    <a:pt x="9361" y="565150"/>
                  </a:lnTo>
                  <a:lnTo>
                    <a:pt x="34885" y="602997"/>
                  </a:lnTo>
                  <a:lnTo>
                    <a:pt x="72732" y="628521"/>
                  </a:lnTo>
                  <a:lnTo>
                    <a:pt x="119062" y="637882"/>
                  </a:lnTo>
                  <a:lnTo>
                    <a:pt x="518826" y="637882"/>
                  </a:lnTo>
                  <a:lnTo>
                    <a:pt x="565156" y="628521"/>
                  </a:lnTo>
                  <a:lnTo>
                    <a:pt x="603003" y="602997"/>
                  </a:lnTo>
                  <a:lnTo>
                    <a:pt x="628527" y="565150"/>
                  </a:lnTo>
                  <a:lnTo>
                    <a:pt x="637889" y="518820"/>
                  </a:lnTo>
                  <a:lnTo>
                    <a:pt x="637889" y="119062"/>
                  </a:lnTo>
                  <a:lnTo>
                    <a:pt x="628527" y="72732"/>
                  </a:lnTo>
                  <a:lnTo>
                    <a:pt x="603003" y="34885"/>
                  </a:lnTo>
                  <a:lnTo>
                    <a:pt x="565156" y="9361"/>
                  </a:lnTo>
                  <a:lnTo>
                    <a:pt x="518826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316339" y="6077839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523589" y="0"/>
                  </a:moveTo>
                  <a:lnTo>
                    <a:pt x="123824" y="0"/>
                  </a:lnTo>
                  <a:lnTo>
                    <a:pt x="75625" y="9730"/>
                  </a:lnTo>
                  <a:lnTo>
                    <a:pt x="36266" y="36266"/>
                  </a:lnTo>
                  <a:lnTo>
                    <a:pt x="9730" y="75625"/>
                  </a:lnTo>
                  <a:lnTo>
                    <a:pt x="0" y="123825"/>
                  </a:lnTo>
                  <a:lnTo>
                    <a:pt x="0" y="523582"/>
                  </a:lnTo>
                  <a:lnTo>
                    <a:pt x="9730" y="571782"/>
                  </a:lnTo>
                  <a:lnTo>
                    <a:pt x="36266" y="611141"/>
                  </a:lnTo>
                  <a:lnTo>
                    <a:pt x="75625" y="637677"/>
                  </a:lnTo>
                  <a:lnTo>
                    <a:pt x="123824" y="647407"/>
                  </a:lnTo>
                  <a:lnTo>
                    <a:pt x="123824" y="642645"/>
                  </a:lnTo>
                  <a:lnTo>
                    <a:pt x="547180" y="642645"/>
                  </a:lnTo>
                  <a:lnTo>
                    <a:pt x="570771" y="637882"/>
                  </a:lnTo>
                  <a:lnTo>
                    <a:pt x="123824" y="637882"/>
                  </a:lnTo>
                  <a:lnTo>
                    <a:pt x="79323" y="628904"/>
                  </a:lnTo>
                  <a:lnTo>
                    <a:pt x="42993" y="604416"/>
                  </a:lnTo>
                  <a:lnTo>
                    <a:pt x="18503" y="568086"/>
                  </a:lnTo>
                  <a:lnTo>
                    <a:pt x="9524" y="523582"/>
                  </a:lnTo>
                  <a:lnTo>
                    <a:pt x="9524" y="123825"/>
                  </a:lnTo>
                  <a:lnTo>
                    <a:pt x="18503" y="79321"/>
                  </a:lnTo>
                  <a:lnTo>
                    <a:pt x="42993" y="42991"/>
                  </a:lnTo>
                  <a:lnTo>
                    <a:pt x="79323" y="18502"/>
                  </a:lnTo>
                  <a:lnTo>
                    <a:pt x="123824" y="9525"/>
                  </a:lnTo>
                  <a:lnTo>
                    <a:pt x="123824" y="4762"/>
                  </a:lnTo>
                  <a:lnTo>
                    <a:pt x="523589" y="4762"/>
                  </a:lnTo>
                  <a:lnTo>
                    <a:pt x="523589" y="0"/>
                  </a:lnTo>
                  <a:close/>
                </a:path>
                <a:path w="647700" h="647700">
                  <a:moveTo>
                    <a:pt x="523589" y="642645"/>
                  </a:moveTo>
                  <a:lnTo>
                    <a:pt x="123824" y="642645"/>
                  </a:lnTo>
                  <a:lnTo>
                    <a:pt x="123824" y="647407"/>
                  </a:lnTo>
                  <a:lnTo>
                    <a:pt x="523589" y="647407"/>
                  </a:lnTo>
                  <a:lnTo>
                    <a:pt x="523589" y="642645"/>
                  </a:lnTo>
                  <a:close/>
                </a:path>
                <a:path w="647700" h="647700">
                  <a:moveTo>
                    <a:pt x="547180" y="642645"/>
                  </a:moveTo>
                  <a:lnTo>
                    <a:pt x="523589" y="642645"/>
                  </a:lnTo>
                  <a:lnTo>
                    <a:pt x="523589" y="647407"/>
                  </a:lnTo>
                  <a:lnTo>
                    <a:pt x="547180" y="642645"/>
                  </a:lnTo>
                  <a:close/>
                </a:path>
                <a:path w="647700" h="647700">
                  <a:moveTo>
                    <a:pt x="523589" y="0"/>
                  </a:moveTo>
                  <a:lnTo>
                    <a:pt x="523589" y="4762"/>
                  </a:lnTo>
                  <a:lnTo>
                    <a:pt x="123824" y="4762"/>
                  </a:lnTo>
                  <a:lnTo>
                    <a:pt x="123824" y="9525"/>
                  </a:lnTo>
                  <a:lnTo>
                    <a:pt x="523589" y="9525"/>
                  </a:lnTo>
                  <a:lnTo>
                    <a:pt x="568090" y="18502"/>
                  </a:lnTo>
                  <a:lnTo>
                    <a:pt x="604421" y="42991"/>
                  </a:lnTo>
                  <a:lnTo>
                    <a:pt x="628910" y="79321"/>
                  </a:lnTo>
                  <a:lnTo>
                    <a:pt x="637889" y="123825"/>
                  </a:lnTo>
                  <a:lnTo>
                    <a:pt x="637889" y="523582"/>
                  </a:lnTo>
                  <a:lnTo>
                    <a:pt x="628910" y="568086"/>
                  </a:lnTo>
                  <a:lnTo>
                    <a:pt x="604421" y="604416"/>
                  </a:lnTo>
                  <a:lnTo>
                    <a:pt x="568090" y="628904"/>
                  </a:lnTo>
                  <a:lnTo>
                    <a:pt x="523589" y="637882"/>
                  </a:lnTo>
                  <a:lnTo>
                    <a:pt x="570771" y="637882"/>
                  </a:lnTo>
                  <a:lnTo>
                    <a:pt x="571788" y="637677"/>
                  </a:lnTo>
                  <a:lnTo>
                    <a:pt x="611148" y="611141"/>
                  </a:lnTo>
                  <a:lnTo>
                    <a:pt x="637684" y="571782"/>
                  </a:lnTo>
                  <a:lnTo>
                    <a:pt x="647415" y="523582"/>
                  </a:lnTo>
                  <a:lnTo>
                    <a:pt x="647415" y="123825"/>
                  </a:lnTo>
                  <a:lnTo>
                    <a:pt x="637684" y="75625"/>
                  </a:lnTo>
                  <a:lnTo>
                    <a:pt x="611148" y="36266"/>
                  </a:lnTo>
                  <a:lnTo>
                    <a:pt x="571788" y="9730"/>
                  </a:lnTo>
                  <a:lnTo>
                    <a:pt x="523589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9510979" y="3066288"/>
            <a:ext cx="7532370" cy="455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1520">
              <a:lnSpc>
                <a:spcPct val="100000"/>
              </a:lnSpc>
              <a:spcBef>
                <a:spcPts val="100"/>
              </a:spcBef>
            </a:pPr>
            <a:r>
              <a:rPr dirty="0" sz="2750" b="1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2750" spc="-1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272424"/>
                </a:solidFill>
                <a:latin typeface="Arial"/>
                <a:cs typeface="Arial"/>
              </a:rPr>
              <a:t>develop</a:t>
            </a:r>
            <a:r>
              <a:rPr dirty="0" sz="2750" spc="-1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2750" spc="-1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272424"/>
                </a:solidFill>
                <a:latin typeface="Arial"/>
                <a:cs typeface="Arial"/>
              </a:rPr>
              <a:t>quantitative</a:t>
            </a:r>
            <a:r>
              <a:rPr dirty="0" sz="2750" spc="-1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272424"/>
                </a:solidFill>
                <a:latin typeface="Arial"/>
                <a:cs typeface="Arial"/>
              </a:rPr>
              <a:t>thermal</a:t>
            </a:r>
            <a:r>
              <a:rPr dirty="0" sz="2750" spc="-10" b="1">
                <a:solidFill>
                  <a:srgbClr val="272424"/>
                </a:solidFill>
                <a:latin typeface="Arial"/>
                <a:cs typeface="Arial"/>
              </a:rPr>
              <a:t> model:</a:t>
            </a:r>
            <a:endParaRPr sz="2750">
              <a:latin typeface="Arial"/>
              <a:cs typeface="Arial"/>
            </a:endParaRPr>
          </a:p>
          <a:p>
            <a:pPr marL="731520" marR="259079">
              <a:lnSpc>
                <a:spcPct val="134900"/>
              </a:lnSpc>
              <a:spcBef>
                <a:spcPts val="875"/>
              </a:spcBef>
            </a:pP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Create</a:t>
            </a:r>
            <a:r>
              <a:rPr dirty="0" sz="2200" spc="-6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2200" spc="-6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272424"/>
                </a:solidFill>
                <a:latin typeface="Arial"/>
                <a:cs typeface="Arial"/>
              </a:rPr>
              <a:t>physics-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based</a:t>
            </a:r>
            <a:r>
              <a:rPr dirty="0" sz="2200" spc="-6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model</a:t>
            </a:r>
            <a:r>
              <a:rPr dirty="0" sz="2200" spc="-6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that</a:t>
            </a:r>
            <a:r>
              <a:rPr dirty="0" sz="2200" spc="-6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calculates</a:t>
            </a:r>
            <a:r>
              <a:rPr dirty="0" sz="2200" spc="-6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50">
                <a:solidFill>
                  <a:srgbClr val="272424"/>
                </a:solidFill>
                <a:latin typeface="Arial"/>
                <a:cs typeface="Arial"/>
              </a:rPr>
              <a:t>a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predicted</a:t>
            </a:r>
            <a:r>
              <a:rPr dirty="0" sz="22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72424"/>
                </a:solidFill>
                <a:latin typeface="Arial"/>
                <a:cs typeface="Arial"/>
              </a:rPr>
              <a:t>temperature</a:t>
            </a:r>
            <a:r>
              <a:rPr dirty="0" sz="2200" spc="-6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drop</a:t>
            </a:r>
            <a:r>
              <a:rPr dirty="0" sz="22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(ΔT)</a:t>
            </a:r>
            <a:r>
              <a:rPr dirty="0" sz="2200" spc="-6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dirty="0" sz="2200" spc="-6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each</a:t>
            </a:r>
            <a:r>
              <a:rPr dirty="0" sz="22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72424"/>
                </a:solidFill>
                <a:latin typeface="Arial"/>
                <a:cs typeface="Arial"/>
              </a:rPr>
              <a:t>segmented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canopy,</a:t>
            </a:r>
            <a:r>
              <a:rPr dirty="0" sz="22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based</a:t>
            </a:r>
            <a:r>
              <a:rPr dirty="0" sz="2200" spc="-6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on</a:t>
            </a:r>
            <a:r>
              <a:rPr dirty="0" sz="22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its</a:t>
            </a:r>
            <a:r>
              <a:rPr dirty="0" sz="2200" spc="-6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relative</a:t>
            </a:r>
            <a:r>
              <a:rPr dirty="0" sz="2200" spc="-7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size</a:t>
            </a:r>
            <a:r>
              <a:rPr dirty="0" sz="2200" spc="-7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2200" spc="-6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health</a:t>
            </a:r>
            <a:r>
              <a:rPr dirty="0" sz="22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72424"/>
                </a:solidFill>
                <a:latin typeface="Arial"/>
                <a:cs typeface="Arial"/>
              </a:rPr>
              <a:t>(mean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VARI</a:t>
            </a:r>
            <a:r>
              <a:rPr dirty="0" sz="220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72424"/>
                </a:solidFill>
                <a:latin typeface="Arial"/>
                <a:cs typeface="Arial"/>
              </a:rPr>
              <a:t>score).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730885" algn="l"/>
              </a:tabLst>
            </a:pPr>
            <a:r>
              <a:rPr dirty="0" sz="3300" spc="-50" b="1">
                <a:solidFill>
                  <a:srgbClr val="272424"/>
                </a:solidFill>
                <a:latin typeface="Arial"/>
                <a:cs typeface="Arial"/>
              </a:rPr>
              <a:t>4</a:t>
            </a:r>
            <a:r>
              <a:rPr dirty="0" sz="3300" b="1">
                <a:solidFill>
                  <a:srgbClr val="272424"/>
                </a:solidFill>
                <a:latin typeface="Arial"/>
                <a:cs typeface="Arial"/>
              </a:rPr>
              <a:t>	</a:t>
            </a:r>
            <a:r>
              <a:rPr dirty="0" baseline="1010" sz="4125" b="1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baseline="1010" sz="4125" spc="-30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baseline="1010" sz="4125" b="1">
                <a:solidFill>
                  <a:srgbClr val="272424"/>
                </a:solidFill>
                <a:latin typeface="Arial"/>
                <a:cs typeface="Arial"/>
              </a:rPr>
              <a:t>provide</a:t>
            </a:r>
            <a:r>
              <a:rPr dirty="0" baseline="1010" sz="4125" spc="-1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baseline="1010" sz="4125" b="1">
                <a:solidFill>
                  <a:srgbClr val="272424"/>
                </a:solidFill>
                <a:latin typeface="Arial"/>
                <a:cs typeface="Arial"/>
              </a:rPr>
              <a:t>actionable</a:t>
            </a:r>
            <a:r>
              <a:rPr dirty="0" baseline="1010" sz="4125" spc="-15" b="1">
                <a:solidFill>
                  <a:srgbClr val="272424"/>
                </a:solidFill>
                <a:latin typeface="Arial"/>
                <a:cs typeface="Arial"/>
              </a:rPr>
              <a:t> data:</a:t>
            </a:r>
            <a:endParaRPr baseline="1010" sz="4125">
              <a:latin typeface="Arial"/>
              <a:cs typeface="Arial"/>
            </a:endParaRPr>
          </a:p>
          <a:p>
            <a:pPr marL="731520" marR="260985">
              <a:lnSpc>
                <a:spcPct val="134900"/>
              </a:lnSpc>
              <a:spcBef>
                <a:spcPts val="720"/>
              </a:spcBef>
            </a:pP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Output</a:t>
            </a:r>
            <a:r>
              <a:rPr dirty="0" sz="2200" spc="-6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2200" spc="-5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structured</a:t>
            </a:r>
            <a:r>
              <a:rPr dirty="0" sz="2200" spc="-6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table</a:t>
            </a:r>
            <a:r>
              <a:rPr dirty="0" sz="2200" spc="-5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dirty="0" sz="2200" spc="-6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statistics</a:t>
            </a:r>
            <a:r>
              <a:rPr dirty="0" sz="2200" spc="-5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dirty="0" sz="2200" spc="-5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each</a:t>
            </a:r>
            <a:r>
              <a:rPr dirty="0" sz="2200" spc="-6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72424"/>
                </a:solidFill>
                <a:latin typeface="Arial"/>
                <a:cs typeface="Arial"/>
              </a:rPr>
              <a:t>tree,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detailing</a:t>
            </a:r>
            <a:r>
              <a:rPr dirty="0" sz="2200" spc="-7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its</a:t>
            </a:r>
            <a:r>
              <a:rPr dirty="0" sz="2200" spc="-7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size,</a:t>
            </a:r>
            <a:r>
              <a:rPr dirty="0" sz="2200" spc="-7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health</a:t>
            </a:r>
            <a:r>
              <a:rPr dirty="0" sz="2200" spc="-7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score,</a:t>
            </a:r>
            <a:r>
              <a:rPr dirty="0" sz="2200" spc="-7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2200" spc="-7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predicted</a:t>
            </a:r>
            <a:r>
              <a:rPr dirty="0" sz="2200" spc="-7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72424"/>
                </a:solidFill>
                <a:latin typeface="Arial"/>
                <a:cs typeface="Arial"/>
              </a:rPr>
              <a:t>cooling.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Hardware</a:t>
            </a:r>
            <a:r>
              <a:rPr dirty="0" spc="-30"/>
              <a:t> </a:t>
            </a:r>
            <a:r>
              <a:rPr dirty="0"/>
              <a:t>&amp;</a:t>
            </a:r>
            <a:r>
              <a:rPr dirty="0" spc="-30"/>
              <a:t> </a:t>
            </a:r>
            <a:r>
              <a:rPr dirty="0"/>
              <a:t>Software</a:t>
            </a:r>
            <a:r>
              <a:rPr dirty="0" spc="-25"/>
              <a:t> </a:t>
            </a:r>
            <a:r>
              <a:rPr dirty="0" spc="-10"/>
              <a:t>Requirements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344" y="1161135"/>
            <a:ext cx="2504440" cy="894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latin typeface="Arial"/>
                <a:cs typeface="Arial"/>
              </a:rPr>
              <a:t>Hardware</a:t>
            </a:r>
            <a:r>
              <a:rPr dirty="0" sz="1650" spc="-40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Requirements:</a:t>
            </a:r>
            <a:endParaRPr sz="1650">
              <a:latin typeface="Arial"/>
              <a:cs typeface="Arial"/>
            </a:endParaRPr>
          </a:p>
          <a:p>
            <a:pPr marL="172085" indent="-79375">
              <a:lnSpc>
                <a:spcPct val="100000"/>
              </a:lnSpc>
              <a:spcBef>
                <a:spcPts val="1425"/>
              </a:spcBef>
              <a:buChar char="•"/>
              <a:tabLst>
                <a:tab pos="172085" algn="l"/>
              </a:tabLst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CPU: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Intel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Core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i5/i7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(or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equivalent)</a:t>
            </a:r>
            <a:endParaRPr sz="1050">
              <a:latin typeface="Arial"/>
              <a:cs typeface="Arial"/>
            </a:endParaRPr>
          </a:p>
          <a:p>
            <a:pPr marL="172085" indent="-79375">
              <a:lnSpc>
                <a:spcPct val="100000"/>
              </a:lnSpc>
              <a:spcBef>
                <a:spcPts val="915"/>
              </a:spcBef>
              <a:buChar char="•"/>
              <a:tabLst>
                <a:tab pos="172085" algn="l"/>
              </a:tabLst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RAM: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8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GB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or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more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313760" y="1161135"/>
            <a:ext cx="4523740" cy="1447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latin typeface="Arial"/>
                <a:cs typeface="Arial"/>
              </a:rPr>
              <a:t>Software</a:t>
            </a:r>
            <a:r>
              <a:rPr dirty="0" sz="1650" spc="-5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Requirements:</a:t>
            </a:r>
            <a:endParaRPr sz="1650">
              <a:latin typeface="Arial"/>
              <a:cs typeface="Arial"/>
            </a:endParaRPr>
          </a:p>
          <a:p>
            <a:pPr marL="172085" indent="-79375">
              <a:lnSpc>
                <a:spcPct val="100000"/>
              </a:lnSpc>
              <a:spcBef>
                <a:spcPts val="1425"/>
              </a:spcBef>
              <a:buChar char="•"/>
              <a:tabLst>
                <a:tab pos="172085" algn="l"/>
              </a:tabLst>
            </a:pP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Operating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System: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Windows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/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macOS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/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 Linux</a:t>
            </a:r>
            <a:endParaRPr sz="1050">
              <a:latin typeface="Arial"/>
              <a:cs typeface="Arial"/>
            </a:endParaRPr>
          </a:p>
          <a:p>
            <a:pPr marL="172085" indent="-79375">
              <a:lnSpc>
                <a:spcPct val="100000"/>
              </a:lnSpc>
              <a:spcBef>
                <a:spcPts val="915"/>
              </a:spcBef>
              <a:buChar char="•"/>
              <a:tabLst>
                <a:tab pos="172085" algn="l"/>
              </a:tabLst>
            </a:pP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Development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Environment: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Google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Colab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/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Jupyter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Notebook</a:t>
            </a:r>
            <a:endParaRPr sz="1050">
              <a:latin typeface="Arial"/>
              <a:cs typeface="Arial"/>
            </a:endParaRPr>
          </a:p>
          <a:p>
            <a:pPr marL="172085" indent="-79375">
              <a:lnSpc>
                <a:spcPct val="100000"/>
              </a:lnSpc>
              <a:spcBef>
                <a:spcPts val="915"/>
              </a:spcBef>
              <a:buChar char="•"/>
              <a:tabLst>
                <a:tab pos="172085" algn="l"/>
              </a:tabLst>
            </a:pP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Language: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Python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3.8+</a:t>
            </a:r>
            <a:endParaRPr sz="1050">
              <a:latin typeface="Arial"/>
              <a:cs typeface="Arial"/>
            </a:endParaRPr>
          </a:p>
          <a:p>
            <a:pPr marL="172085" indent="-79375">
              <a:lnSpc>
                <a:spcPct val="100000"/>
              </a:lnSpc>
              <a:spcBef>
                <a:spcPts val="915"/>
              </a:spcBef>
              <a:buChar char="•"/>
              <a:tabLst>
                <a:tab pos="172085" algn="l"/>
              </a:tabLst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Core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Libraries: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scikit-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image,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OpenCV-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Python,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NumPy,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Pandas,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Matplotlib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044" y="2859290"/>
            <a:ext cx="10774299" cy="73717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Methodology</a:t>
            </a:r>
            <a:r>
              <a:rPr dirty="0" spc="-25"/>
              <a:t> </a:t>
            </a:r>
            <a:r>
              <a:rPr dirty="0" spc="-10"/>
              <a:t>(Overview)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344" y="1115296"/>
            <a:ext cx="5149850" cy="572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system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three-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stage,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feed-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forward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pipeline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based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on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unsupervised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analysis.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It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"white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box"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design,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where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each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stage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parameter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explicit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interpretable.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25029" y="2581782"/>
            <a:ext cx="5050790" cy="728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Stage</a:t>
            </a:r>
            <a:r>
              <a:rPr dirty="0" sz="1400" spc="-1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1:</a:t>
            </a:r>
            <a:r>
              <a:rPr dirty="0" sz="1400" spc="-1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Segmentation</a:t>
            </a:r>
            <a:r>
              <a:rPr dirty="0" sz="1400" spc="-1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(Where</a:t>
            </a:r>
            <a:r>
              <a:rPr dirty="0" sz="1400" spc="-1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are</a:t>
            </a:r>
            <a:r>
              <a:rPr dirty="0" sz="1400" spc="-1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400" spc="-1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canopies?)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38900"/>
              </a:lnSpc>
              <a:spcBef>
                <a:spcPts val="355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Uses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SLIC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algorithm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cluster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pixels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into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superpixels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(considers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color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spatial proximity).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5029" y="3379253"/>
            <a:ext cx="5304790" cy="469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900"/>
              </a:lnSpc>
              <a:spcBef>
                <a:spcPts val="100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Filters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superpixels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based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on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average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VARI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(health)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score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size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isolate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"large,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green objects."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044" y="1888629"/>
            <a:ext cx="17295893" cy="56701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390335" y="2581782"/>
            <a:ext cx="5368290" cy="728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Stage</a:t>
            </a: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2:</a:t>
            </a: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Modeling</a:t>
            </a: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(How</a:t>
            </a:r>
            <a:r>
              <a:rPr dirty="0" sz="1400" spc="-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much</a:t>
            </a: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do</a:t>
            </a: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they</a:t>
            </a:r>
            <a:r>
              <a:rPr dirty="0" sz="1400" spc="-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cool?)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38900"/>
              </a:lnSpc>
              <a:spcBef>
                <a:spcPts val="355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Applies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simple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thermal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model: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Cooling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function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Health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(proxied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by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VARI)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Size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(proxied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by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pixel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area).</a:t>
            </a:r>
            <a:endParaRPr sz="10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390335" y="3441483"/>
            <a:ext cx="42113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Computes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quantitative,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interpretable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cooling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value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(ΔT)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each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tree.</a:t>
            </a:r>
            <a:endParaRPr sz="10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155640" y="2581782"/>
            <a:ext cx="3867150" cy="506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Stage</a:t>
            </a:r>
            <a:r>
              <a:rPr dirty="0" sz="1400" spc="-1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3:</a:t>
            </a: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Visualization</a:t>
            </a: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(How</a:t>
            </a: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can</a:t>
            </a:r>
            <a:r>
              <a:rPr dirty="0" sz="1400" spc="-1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we</a:t>
            </a: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use</a:t>
            </a: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 this?)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Translates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raw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data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into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human-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readable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formats.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155640" y="3214661"/>
            <a:ext cx="460248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Generates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qualitative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"virtual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thermal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map"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quantitative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per-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object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data.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172521"/>
            <a:ext cx="9829800" cy="56191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333" y="3125419"/>
            <a:ext cx="4351629" cy="181136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70220" y="3012909"/>
            <a:ext cx="4039641" cy="192387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76586" y="2650858"/>
            <a:ext cx="3570020" cy="264798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60347" y="2650858"/>
            <a:ext cx="3583470" cy="264647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12815" y="5882233"/>
            <a:ext cx="6862368" cy="324247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408131" y="1452918"/>
            <a:ext cx="9737090" cy="383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10" b="1">
                <a:solidFill>
                  <a:srgbClr val="FFFFFF"/>
                </a:solidFill>
                <a:latin typeface="Arial"/>
                <a:cs typeface="Arial"/>
              </a:rPr>
              <a:t>Demonstration</a:t>
            </a:r>
            <a:r>
              <a:rPr dirty="0" sz="235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3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3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FFFFFF"/>
                </a:solidFill>
                <a:latin typeface="Arial"/>
                <a:cs typeface="Arial"/>
              </a:rPr>
              <a:t>real</a:t>
            </a:r>
            <a:r>
              <a:rPr dirty="0" sz="23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r>
              <a:rPr dirty="0" sz="23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FFFFFF"/>
                </a:solidFill>
                <a:latin typeface="Arial"/>
                <a:cs typeface="Arial"/>
              </a:rPr>
              <a:t>thorugh</a:t>
            </a:r>
            <a:r>
              <a:rPr dirty="0" sz="23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3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dirty="0" sz="235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10" b="1">
                <a:solidFill>
                  <a:srgbClr val="FFFFFF"/>
                </a:solidFill>
                <a:latin typeface="Arial"/>
                <a:cs typeface="Arial"/>
              </a:rPr>
              <a:t>implementation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2488" y="599748"/>
            <a:ext cx="11891010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3635" algn="l"/>
                <a:tab pos="5567045" algn="l"/>
                <a:tab pos="7984490" algn="l"/>
                <a:tab pos="8674735" algn="l"/>
                <a:tab pos="9679305" algn="l"/>
              </a:tabLst>
            </a:pPr>
            <a:r>
              <a:rPr dirty="0" sz="4450" spc="-10"/>
              <a:t>Methodology</a:t>
            </a:r>
            <a:r>
              <a:rPr dirty="0" sz="4450"/>
              <a:t>	</a:t>
            </a:r>
            <a:r>
              <a:rPr dirty="0" sz="4450" spc="-10"/>
              <a:t>(Block</a:t>
            </a:r>
            <a:r>
              <a:rPr dirty="0" sz="4450"/>
              <a:t>	</a:t>
            </a:r>
            <a:r>
              <a:rPr dirty="0" sz="4450" spc="-10"/>
              <a:t>Diagram</a:t>
            </a:r>
            <a:r>
              <a:rPr dirty="0" sz="4450"/>
              <a:t>	</a:t>
            </a:r>
            <a:r>
              <a:rPr dirty="0" sz="4450" spc="-25"/>
              <a:t>of</a:t>
            </a:r>
            <a:r>
              <a:rPr dirty="0" sz="4450"/>
              <a:t>	</a:t>
            </a:r>
            <a:r>
              <a:rPr dirty="0" sz="4450" spc="-25"/>
              <a:t>the</a:t>
            </a:r>
            <a:r>
              <a:rPr dirty="0" sz="4450"/>
              <a:t>	</a:t>
            </a:r>
            <a:r>
              <a:rPr dirty="0" sz="4450" spc="-10"/>
              <a:t>System)</a:t>
            </a:r>
            <a:endParaRPr sz="44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761" y="1373276"/>
            <a:ext cx="11428476" cy="891372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192585" y="5790946"/>
            <a:ext cx="18732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7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Flow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702174" y="2401113"/>
            <a:ext cx="18961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272424"/>
                </a:solidFill>
                <a:latin typeface="Arial"/>
                <a:cs typeface="Arial"/>
              </a:rPr>
              <a:t>Input:</a:t>
            </a:r>
            <a:r>
              <a:rPr dirty="0" sz="1700" spc="-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272424"/>
                </a:solidFill>
                <a:latin typeface="Arial"/>
                <a:cs typeface="Arial"/>
              </a:rPr>
              <a:t>Input</a:t>
            </a:r>
            <a:r>
              <a:rPr dirty="0" sz="1700" spc="-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272424"/>
                </a:solidFill>
                <a:latin typeface="Arial"/>
                <a:cs typeface="Arial"/>
              </a:rPr>
              <a:t>Image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765973" y="3488334"/>
            <a:ext cx="176911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272424"/>
                </a:solidFill>
                <a:latin typeface="Arial"/>
                <a:cs typeface="Arial"/>
              </a:rPr>
              <a:t>Raw</a:t>
            </a:r>
            <a:r>
              <a:rPr dirty="0" sz="130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72424"/>
                </a:solidFill>
                <a:latin typeface="Arial"/>
                <a:cs typeface="Arial"/>
              </a:rPr>
              <a:t>image</a:t>
            </a:r>
            <a:r>
              <a:rPr dirty="0" sz="13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72424"/>
                </a:solidFill>
                <a:latin typeface="Arial"/>
                <a:cs typeface="Arial"/>
              </a:rPr>
              <a:t>from</a:t>
            </a:r>
            <a:r>
              <a:rPr dirty="0" sz="13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272424"/>
                </a:solidFill>
                <a:latin typeface="Arial"/>
                <a:cs typeface="Arial"/>
              </a:rPr>
              <a:t>sensor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45176" y="2166569"/>
            <a:ext cx="2424430" cy="5467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468630" marR="5080" indent="-456565">
              <a:lnSpc>
                <a:spcPct val="101099"/>
              </a:lnSpc>
              <a:spcBef>
                <a:spcPts val="75"/>
              </a:spcBef>
            </a:pPr>
            <a:r>
              <a:rPr dirty="0" sz="1700" spc="-10" b="1">
                <a:solidFill>
                  <a:srgbClr val="272424"/>
                </a:solidFill>
                <a:latin typeface="Arial"/>
                <a:cs typeface="Arial"/>
              </a:rPr>
              <a:t>Sub-</a:t>
            </a:r>
            <a:r>
              <a:rPr dirty="0" sz="1700" b="1">
                <a:solidFill>
                  <a:srgbClr val="272424"/>
                </a:solidFill>
                <a:latin typeface="Arial"/>
                <a:cs typeface="Arial"/>
              </a:rPr>
              <a:t>process</a:t>
            </a:r>
            <a:r>
              <a:rPr dirty="0" sz="1700" spc="-3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272424"/>
                </a:solidFill>
                <a:latin typeface="Arial"/>
                <a:cs typeface="Arial"/>
              </a:rPr>
              <a:t>2.1:</a:t>
            </a:r>
            <a:r>
              <a:rPr dirty="0" sz="1700" spc="-3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272424"/>
                </a:solidFill>
                <a:latin typeface="Arial"/>
                <a:cs typeface="Arial"/>
              </a:rPr>
              <a:t>Apply </a:t>
            </a:r>
            <a:r>
              <a:rPr dirty="0" sz="1700" b="1">
                <a:solidFill>
                  <a:srgbClr val="272424"/>
                </a:solidFill>
                <a:latin typeface="Arial"/>
                <a:cs typeface="Arial"/>
              </a:rPr>
              <a:t>Cooling</a:t>
            </a:r>
            <a:r>
              <a:rPr dirty="0" sz="1700" spc="-1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272424"/>
                </a:solidFill>
                <a:latin typeface="Arial"/>
                <a:cs typeface="Arial"/>
              </a:rPr>
              <a:t>Model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489623" y="3723411"/>
            <a:ext cx="213423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272424"/>
                </a:solidFill>
                <a:latin typeface="Arial"/>
                <a:cs typeface="Arial"/>
              </a:rPr>
              <a:t>Simulate</a:t>
            </a:r>
            <a:r>
              <a:rPr dirty="0" sz="130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272424"/>
                </a:solidFill>
                <a:latin typeface="Arial"/>
                <a:cs typeface="Arial"/>
              </a:rPr>
              <a:t>temperature</a:t>
            </a:r>
            <a:r>
              <a:rPr dirty="0" sz="130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272424"/>
                </a:solidFill>
                <a:latin typeface="Arial"/>
                <a:cs typeface="Arial"/>
              </a:rPr>
              <a:t>effects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675033" y="8127542"/>
            <a:ext cx="1764664" cy="5467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80340" marR="5080" indent="-168275">
              <a:lnSpc>
                <a:spcPct val="101099"/>
              </a:lnSpc>
              <a:spcBef>
                <a:spcPts val="75"/>
              </a:spcBef>
            </a:pPr>
            <a:r>
              <a:rPr dirty="0" sz="1700" spc="-10" b="1">
                <a:solidFill>
                  <a:srgbClr val="272424"/>
                </a:solidFill>
                <a:latin typeface="Arial"/>
                <a:cs typeface="Arial"/>
              </a:rPr>
              <a:t>Sub-</a:t>
            </a:r>
            <a:r>
              <a:rPr dirty="0" sz="1700" b="1">
                <a:solidFill>
                  <a:srgbClr val="272424"/>
                </a:solidFill>
                <a:latin typeface="Arial"/>
                <a:cs typeface="Arial"/>
              </a:rPr>
              <a:t>process</a:t>
            </a:r>
            <a:r>
              <a:rPr dirty="0" sz="1700" spc="-3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272424"/>
                </a:solidFill>
                <a:latin typeface="Arial"/>
                <a:cs typeface="Arial"/>
              </a:rPr>
              <a:t>1.2: </a:t>
            </a:r>
            <a:r>
              <a:rPr dirty="0" sz="1700" spc="-10" b="1">
                <a:solidFill>
                  <a:srgbClr val="272424"/>
                </a:solidFill>
                <a:latin typeface="Arial"/>
                <a:cs typeface="Arial"/>
              </a:rPr>
              <a:t>compute_vari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645487" y="9684384"/>
            <a:ext cx="18237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272424"/>
                </a:solidFill>
                <a:latin typeface="Arial"/>
                <a:cs typeface="Arial"/>
              </a:rPr>
              <a:t>Variance-</a:t>
            </a:r>
            <a:r>
              <a:rPr dirty="0" sz="1300">
                <a:solidFill>
                  <a:srgbClr val="272424"/>
                </a:solidFill>
                <a:latin typeface="Arial"/>
                <a:cs typeface="Arial"/>
              </a:rPr>
              <a:t>based</a:t>
            </a:r>
            <a:r>
              <a:rPr dirty="0" sz="1300" spc="-5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272424"/>
                </a:solidFill>
                <a:latin typeface="Arial"/>
                <a:cs typeface="Arial"/>
              </a:rPr>
              <a:t>features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725790" y="8127542"/>
            <a:ext cx="1847850" cy="5467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41910">
              <a:lnSpc>
                <a:spcPct val="101099"/>
              </a:lnSpc>
              <a:spcBef>
                <a:spcPts val="75"/>
              </a:spcBef>
            </a:pPr>
            <a:r>
              <a:rPr dirty="0" sz="1700" spc="-10" b="1">
                <a:solidFill>
                  <a:srgbClr val="272424"/>
                </a:solidFill>
                <a:latin typeface="Arial"/>
                <a:cs typeface="Arial"/>
              </a:rPr>
              <a:t>Sub-</a:t>
            </a:r>
            <a:r>
              <a:rPr dirty="0" sz="1700" b="1">
                <a:solidFill>
                  <a:srgbClr val="272424"/>
                </a:solidFill>
                <a:latin typeface="Arial"/>
                <a:cs typeface="Arial"/>
              </a:rPr>
              <a:t>process</a:t>
            </a:r>
            <a:r>
              <a:rPr dirty="0" sz="1700" spc="-3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272424"/>
                </a:solidFill>
                <a:latin typeface="Arial"/>
                <a:cs typeface="Arial"/>
              </a:rPr>
              <a:t>1.1: </a:t>
            </a:r>
            <a:r>
              <a:rPr dirty="0" sz="1700" spc="-10" b="1">
                <a:solidFill>
                  <a:srgbClr val="272424"/>
                </a:solidFill>
                <a:latin typeface="Arial"/>
                <a:cs typeface="Arial"/>
              </a:rPr>
              <a:t>segmentation.slic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729011" y="9684384"/>
            <a:ext cx="18415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272424"/>
                </a:solidFill>
                <a:latin typeface="Arial"/>
                <a:cs typeface="Arial"/>
              </a:rPr>
              <a:t>Superpixel</a:t>
            </a:r>
            <a:r>
              <a:rPr dirty="0" sz="1300" spc="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272424"/>
                </a:solidFill>
                <a:latin typeface="Arial"/>
                <a:cs typeface="Arial"/>
              </a:rPr>
              <a:t>segmentation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764757" y="5292902"/>
            <a:ext cx="2041525" cy="5467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372110">
              <a:lnSpc>
                <a:spcPct val="101099"/>
              </a:lnSpc>
              <a:spcBef>
                <a:spcPts val="75"/>
              </a:spcBef>
            </a:pPr>
            <a:r>
              <a:rPr dirty="0" sz="1700" b="1">
                <a:solidFill>
                  <a:srgbClr val="272424"/>
                </a:solidFill>
                <a:latin typeface="Arial"/>
                <a:cs typeface="Arial"/>
              </a:rPr>
              <a:t>Process</a:t>
            </a:r>
            <a:r>
              <a:rPr dirty="0" sz="1700" spc="-70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272424"/>
                </a:solidFill>
                <a:latin typeface="Arial"/>
                <a:cs typeface="Arial"/>
              </a:rPr>
              <a:t>1.0: </a:t>
            </a:r>
            <a:r>
              <a:rPr dirty="0" sz="1700" spc="-10" b="1">
                <a:solidFill>
                  <a:srgbClr val="272424"/>
                </a:solidFill>
                <a:latin typeface="Arial"/>
                <a:cs typeface="Arial"/>
              </a:rPr>
              <a:t>extract_tree_masks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070970" y="6849732"/>
            <a:ext cx="14293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272424"/>
                </a:solidFill>
                <a:latin typeface="Arial"/>
                <a:cs typeface="Arial"/>
              </a:rPr>
              <a:t>Isolate</a:t>
            </a:r>
            <a:r>
              <a:rPr dirty="0" sz="1300" spc="-5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72424"/>
                </a:solidFill>
                <a:latin typeface="Arial"/>
                <a:cs typeface="Arial"/>
              </a:rPr>
              <a:t>tree</a:t>
            </a:r>
            <a:r>
              <a:rPr dirty="0" sz="1300" spc="-4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272424"/>
                </a:solidFill>
                <a:latin typeface="Arial"/>
                <a:cs typeface="Arial"/>
              </a:rPr>
              <a:t>regions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085806" y="5122011"/>
            <a:ext cx="2770505" cy="5467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737235">
              <a:lnSpc>
                <a:spcPct val="101099"/>
              </a:lnSpc>
              <a:spcBef>
                <a:spcPts val="75"/>
              </a:spcBef>
            </a:pPr>
            <a:r>
              <a:rPr dirty="0" sz="1700" b="1">
                <a:solidFill>
                  <a:srgbClr val="272424"/>
                </a:solidFill>
                <a:latin typeface="Arial"/>
                <a:cs typeface="Arial"/>
              </a:rPr>
              <a:t>Process</a:t>
            </a:r>
            <a:r>
              <a:rPr dirty="0" sz="1700" spc="-70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272424"/>
                </a:solidFill>
                <a:latin typeface="Arial"/>
                <a:cs typeface="Arial"/>
              </a:rPr>
              <a:t>2.0: </a:t>
            </a:r>
            <a:r>
              <a:rPr dirty="0" sz="1700" spc="-10" b="1">
                <a:solidFill>
                  <a:srgbClr val="272424"/>
                </a:solidFill>
                <a:latin typeface="Arial"/>
                <a:cs typeface="Arial"/>
              </a:rPr>
              <a:t>build_virtual_thermal_map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578705" y="6678854"/>
            <a:ext cx="1786889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272424"/>
                </a:solidFill>
                <a:latin typeface="Arial"/>
                <a:cs typeface="Arial"/>
              </a:rPr>
              <a:t>Estimate</a:t>
            </a:r>
            <a:r>
              <a:rPr dirty="0" sz="1300" spc="-7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72424"/>
                </a:solidFill>
                <a:latin typeface="Arial"/>
                <a:cs typeface="Arial"/>
              </a:rPr>
              <a:t>thermal</a:t>
            </a:r>
            <a:r>
              <a:rPr dirty="0" sz="13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272424"/>
                </a:solidFill>
                <a:latin typeface="Arial"/>
                <a:cs typeface="Arial"/>
              </a:rPr>
              <a:t>values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Detected</a:t>
            </a:r>
            <a:r>
              <a:rPr dirty="0" spc="-20"/>
              <a:t> </a:t>
            </a:r>
            <a:r>
              <a:rPr dirty="0"/>
              <a:t>Tree</a:t>
            </a:r>
            <a:r>
              <a:rPr dirty="0" spc="-15"/>
              <a:t> </a:t>
            </a:r>
            <a:r>
              <a:rPr dirty="0"/>
              <a:t>Masks</a:t>
            </a:r>
            <a:r>
              <a:rPr dirty="0" spc="-20"/>
              <a:t> </a:t>
            </a:r>
            <a:r>
              <a:rPr dirty="0"/>
              <a:t>(Output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Stage</a:t>
            </a:r>
            <a:r>
              <a:rPr dirty="0" spc="-15"/>
              <a:t> </a:t>
            </a:r>
            <a:r>
              <a:rPr dirty="0" spc="-25"/>
              <a:t>1)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044" y="1116210"/>
            <a:ext cx="10774299" cy="737177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83344" y="8684920"/>
            <a:ext cx="9197340" cy="1186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Discussion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Points: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400">
              <a:latin typeface="Arial"/>
              <a:cs typeface="Arial"/>
            </a:endParaRPr>
          </a:p>
          <a:p>
            <a:pPr marL="172085" indent="-79375">
              <a:lnSpc>
                <a:spcPct val="100000"/>
              </a:lnSpc>
              <a:buChar char="•"/>
              <a:tabLst>
                <a:tab pos="172085" algn="l"/>
              </a:tabLst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This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image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shows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output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extract_tree_masks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function.</a:t>
            </a:r>
            <a:endParaRPr sz="1050">
              <a:latin typeface="Arial"/>
              <a:cs typeface="Arial"/>
            </a:endParaRPr>
          </a:p>
          <a:p>
            <a:pPr marL="172085" indent="-79375">
              <a:lnSpc>
                <a:spcPct val="100000"/>
              </a:lnSpc>
              <a:spcBef>
                <a:spcPts val="915"/>
              </a:spcBef>
              <a:buChar char="•"/>
              <a:tabLst>
                <a:tab pos="172085" algn="l"/>
              </a:tabLst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Each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contiguous,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colored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patch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represents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individual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superpixel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that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has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passed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VARI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(greenness)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area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thresholds.</a:t>
            </a:r>
            <a:endParaRPr sz="1050">
              <a:latin typeface="Arial"/>
              <a:cs typeface="Arial"/>
            </a:endParaRPr>
          </a:p>
          <a:p>
            <a:pPr marL="172085" indent="-79375">
              <a:lnSpc>
                <a:spcPct val="100000"/>
              </a:lnSpc>
              <a:spcBef>
                <a:spcPts val="919"/>
              </a:spcBef>
              <a:buChar char="•"/>
              <a:tabLst>
                <a:tab pos="172085" algn="l"/>
              </a:tabLst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This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demonstrates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algorithm's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ability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partition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complex,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heterogeneous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canopy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into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its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constituent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parts,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forming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basis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per-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object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analysis.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924" y="455512"/>
            <a:ext cx="8554085" cy="5359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/>
              <a:t>Results:</a:t>
            </a:r>
            <a:r>
              <a:rPr dirty="0" sz="3350" spc="-40"/>
              <a:t> </a:t>
            </a:r>
            <a:r>
              <a:rPr dirty="0" sz="3350"/>
              <a:t>Stage</a:t>
            </a:r>
            <a:r>
              <a:rPr dirty="0" sz="3350" spc="-40"/>
              <a:t> </a:t>
            </a:r>
            <a:r>
              <a:rPr dirty="0" sz="3350"/>
              <a:t>2</a:t>
            </a:r>
            <a:r>
              <a:rPr dirty="0" sz="3350" spc="-35"/>
              <a:t> </a:t>
            </a:r>
            <a:r>
              <a:rPr dirty="0" sz="3350"/>
              <a:t>-</a:t>
            </a:r>
            <a:r>
              <a:rPr dirty="0" sz="3350" spc="-40"/>
              <a:t> </a:t>
            </a:r>
            <a:r>
              <a:rPr dirty="0" sz="3350"/>
              <a:t>Health</a:t>
            </a:r>
            <a:r>
              <a:rPr dirty="0" sz="3350" spc="-40"/>
              <a:t> </a:t>
            </a:r>
            <a:r>
              <a:rPr dirty="0" sz="3350"/>
              <a:t>&amp;</a:t>
            </a:r>
            <a:r>
              <a:rPr dirty="0" sz="3350" spc="-35"/>
              <a:t> </a:t>
            </a:r>
            <a:r>
              <a:rPr dirty="0" sz="3350"/>
              <a:t>Thermal</a:t>
            </a:r>
            <a:r>
              <a:rPr dirty="0" sz="3350" spc="-40"/>
              <a:t> </a:t>
            </a:r>
            <a:r>
              <a:rPr dirty="0" sz="3350" spc="-10"/>
              <a:t>Model</a:t>
            </a:r>
            <a:endParaRPr sz="33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624" y="1473403"/>
            <a:ext cx="7022909" cy="70229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5005" y="1473403"/>
            <a:ext cx="7022909" cy="702290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50195" y="8719781"/>
            <a:ext cx="7525384" cy="1367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Figure</a:t>
            </a:r>
            <a:r>
              <a:rPr dirty="0" sz="18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6.2: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Greenness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(VARI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Index)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Map</a:t>
            </a:r>
            <a:endParaRPr sz="1800">
              <a:latin typeface="Arial"/>
              <a:cs typeface="Arial"/>
            </a:endParaRPr>
          </a:p>
          <a:p>
            <a:pPr marL="193040" indent="-99060">
              <a:lnSpc>
                <a:spcPct val="100000"/>
              </a:lnSpc>
              <a:spcBef>
                <a:spcPts val="1395"/>
              </a:spcBef>
              <a:buChar char="•"/>
              <a:tabLst>
                <a:tab pos="193040" algn="l"/>
              </a:tabLst>
            </a:pP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Serves</a:t>
            </a:r>
            <a:r>
              <a:rPr dirty="0" sz="16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as</a:t>
            </a:r>
            <a:r>
              <a:rPr dirty="0" sz="16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6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"health"</a:t>
            </a:r>
            <a:r>
              <a:rPr dirty="0" sz="160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input</a:t>
            </a:r>
            <a:r>
              <a:rPr dirty="0" sz="16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dirty="0" sz="16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6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72424"/>
                </a:solidFill>
                <a:latin typeface="Arial"/>
                <a:cs typeface="Arial"/>
              </a:rPr>
              <a:t>model.</a:t>
            </a:r>
            <a:endParaRPr sz="1600">
              <a:latin typeface="Arial"/>
              <a:cs typeface="Arial"/>
            </a:endParaRPr>
          </a:p>
          <a:p>
            <a:pPr marL="210185" indent="-99060">
              <a:lnSpc>
                <a:spcPct val="100000"/>
              </a:lnSpc>
              <a:spcBef>
                <a:spcPts val="540"/>
              </a:spcBef>
              <a:buChar char="•"/>
              <a:tabLst>
                <a:tab pos="210185" algn="l"/>
              </a:tabLst>
            </a:pP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Bright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green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areas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show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high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positive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VARI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scores,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indicating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healthy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72424"/>
                </a:solidFill>
                <a:latin typeface="Arial"/>
                <a:cs typeface="Arial"/>
              </a:rPr>
              <a:t>vegetation.</a:t>
            </a:r>
            <a:endParaRPr sz="1600">
              <a:latin typeface="Arial"/>
              <a:cs typeface="Arial"/>
            </a:endParaRPr>
          </a:p>
          <a:p>
            <a:pPr marL="210185" indent="-99060">
              <a:lnSpc>
                <a:spcPct val="100000"/>
              </a:lnSpc>
              <a:spcBef>
                <a:spcPts val="710"/>
              </a:spcBef>
              <a:buChar char="•"/>
              <a:tabLst>
                <a:tab pos="210185" algn="l"/>
              </a:tabLst>
            </a:pP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Used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filter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segments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in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Stage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1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6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calculate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cooling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factor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in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Stage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2.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257906" y="8737384"/>
            <a:ext cx="8743315" cy="1560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Figure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6.3: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Virtual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Thermal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Map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(°C)</a:t>
            </a:r>
            <a:endParaRPr sz="1800">
              <a:latin typeface="Arial"/>
              <a:cs typeface="Arial"/>
            </a:endParaRPr>
          </a:p>
          <a:p>
            <a:pPr marL="175260" indent="-99060">
              <a:lnSpc>
                <a:spcPct val="100000"/>
              </a:lnSpc>
              <a:spcBef>
                <a:spcPts val="1175"/>
              </a:spcBef>
              <a:buChar char="•"/>
              <a:tabLst>
                <a:tab pos="175260" algn="l"/>
              </a:tabLst>
            </a:pP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key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predictive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output</a:t>
            </a:r>
            <a:r>
              <a:rPr dirty="0" sz="16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72424"/>
                </a:solidFill>
                <a:latin typeface="Arial"/>
                <a:cs typeface="Arial"/>
              </a:rPr>
              <a:t>framework.</a:t>
            </a:r>
            <a:endParaRPr sz="1600">
              <a:latin typeface="Arial"/>
              <a:cs typeface="Arial"/>
            </a:endParaRPr>
          </a:p>
          <a:p>
            <a:pPr marL="175260" indent="-99060">
              <a:lnSpc>
                <a:spcPct val="100000"/>
              </a:lnSpc>
              <a:spcBef>
                <a:spcPts val="470"/>
              </a:spcBef>
              <a:buChar char="•"/>
              <a:tabLst>
                <a:tab pos="175260" algn="l"/>
              </a:tabLst>
            </a:pP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Assuming</a:t>
            </a:r>
            <a:r>
              <a:rPr dirty="0" sz="16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base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ambient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temperature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dirty="0" sz="16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40.0°C,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map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shows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6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cooling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72424"/>
                </a:solidFill>
                <a:latin typeface="Arial"/>
                <a:cs typeface="Arial"/>
              </a:rPr>
              <a:t>effect.</a:t>
            </a:r>
            <a:endParaRPr sz="1600">
              <a:latin typeface="Arial"/>
              <a:cs typeface="Arial"/>
            </a:endParaRPr>
          </a:p>
          <a:p>
            <a:pPr marL="163830" indent="-99060">
              <a:lnSpc>
                <a:spcPct val="100000"/>
              </a:lnSpc>
              <a:spcBef>
                <a:spcPts val="400"/>
              </a:spcBef>
              <a:buChar char="•"/>
              <a:tabLst>
                <a:tab pos="163830" algn="l"/>
              </a:tabLst>
            </a:pP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Dark</a:t>
            </a:r>
            <a:r>
              <a:rPr dirty="0" sz="16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purple</a:t>
            </a:r>
            <a:r>
              <a:rPr dirty="0" sz="16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regions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correlate</a:t>
            </a:r>
            <a:r>
              <a:rPr dirty="0" sz="16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with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72424"/>
                </a:solidFill>
                <a:latin typeface="Arial"/>
                <a:cs typeface="Arial"/>
              </a:rPr>
              <a:t>high-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VARI</a:t>
            </a:r>
            <a:r>
              <a:rPr dirty="0" sz="16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areas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6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represent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6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coolest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parts,</a:t>
            </a:r>
            <a:r>
              <a:rPr dirty="0" sz="16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72424"/>
                </a:solidFill>
                <a:latin typeface="Arial"/>
                <a:cs typeface="Arial"/>
              </a:rPr>
              <a:t>dropping</a:t>
            </a:r>
            <a:r>
              <a:rPr dirty="0" sz="16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272424"/>
                </a:solidFill>
                <a:latin typeface="Arial"/>
                <a:cs typeface="Arial"/>
              </a:rPr>
              <a:t>to</a:t>
            </a:r>
            <a:endParaRPr sz="1600">
              <a:latin typeface="Arial"/>
              <a:cs typeface="Arial"/>
            </a:endParaRPr>
          </a:p>
          <a:p>
            <a:pPr marL="163195">
              <a:lnSpc>
                <a:spcPct val="100000"/>
              </a:lnSpc>
              <a:spcBef>
                <a:spcPts val="204"/>
              </a:spcBef>
            </a:pPr>
            <a:r>
              <a:rPr dirty="0" sz="1600" spc="-10">
                <a:solidFill>
                  <a:srgbClr val="272424"/>
                </a:solidFill>
                <a:latin typeface="Arial"/>
                <a:cs typeface="Arial"/>
              </a:rPr>
              <a:t>~39.1°C.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Results:</a:t>
            </a:r>
            <a:r>
              <a:rPr dirty="0" spc="-15"/>
              <a:t> </a:t>
            </a:r>
            <a:r>
              <a:rPr dirty="0"/>
              <a:t>Stage</a:t>
            </a:r>
            <a:r>
              <a:rPr dirty="0" spc="-15"/>
              <a:t> </a:t>
            </a:r>
            <a:r>
              <a:rPr dirty="0"/>
              <a:t>3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Quantitative</a:t>
            </a:r>
            <a:r>
              <a:rPr dirty="0" spc="-15"/>
              <a:t> </a:t>
            </a:r>
            <a:r>
              <a:rPr dirty="0" spc="-10"/>
              <a:t>Output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044" y="1116210"/>
            <a:ext cx="10774299" cy="737177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661140" y="1221422"/>
            <a:ext cx="58400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Table: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Sample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Quantitative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Output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for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Detected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Trees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1610517" y="2013966"/>
          <a:ext cx="6413500" cy="1821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1150"/>
                <a:gridCol w="1581150"/>
                <a:gridCol w="1581150"/>
                <a:gridCol w="1581150"/>
              </a:tblGrid>
              <a:tr h="70104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000" spc="-25" b="1" i="1">
                          <a:latin typeface="Times New Roman"/>
                          <a:cs typeface="Times New Roman"/>
                        </a:rPr>
                        <a:t>id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000" spc="-10" b="1" i="1">
                          <a:latin typeface="Times New Roman"/>
                          <a:cs typeface="Times New Roman"/>
                        </a:rPr>
                        <a:t>area_px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000" spc="-10" b="1" i="1">
                          <a:latin typeface="Times New Roman"/>
                          <a:cs typeface="Times New Roman"/>
                        </a:rPr>
                        <a:t>mean_vari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000" spc="-10" b="1" i="1">
                          <a:latin typeface="Times New Roman"/>
                          <a:cs typeface="Times New Roman"/>
                        </a:rPr>
                        <a:t>est_cooling_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000" spc="-50" b="1" i="1">
                          <a:latin typeface="Times New Roman"/>
                          <a:cs typeface="Times New Roman"/>
                        </a:rPr>
                        <a:t>C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000" spc="-50" i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000" spc="-10" i="1">
                          <a:latin typeface="Times New Roman"/>
                          <a:cs typeface="Times New Roman"/>
                        </a:rPr>
                        <a:t>68,210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000" spc="-20" i="1">
                          <a:latin typeface="Times New Roman"/>
                          <a:cs typeface="Times New Roman"/>
                        </a:rPr>
                        <a:t>0.31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000" i="1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2000" spc="-20" i="1">
                          <a:latin typeface="Times New Roman"/>
                          <a:cs typeface="Times New Roman"/>
                        </a:rPr>
                        <a:t>2.85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56642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000" spc="-50" i="1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12,450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0.23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0.98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11661140" y="4161154"/>
            <a:ext cx="6119495" cy="1659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Discussion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Points: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363220" marR="5080" indent="-285750">
              <a:lnSpc>
                <a:spcPts val="1750"/>
              </a:lnSpc>
              <a:buChar char="•"/>
              <a:tabLst>
                <a:tab pos="363220" algn="l"/>
              </a:tabLst>
            </a:pP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Green</a:t>
            </a:r>
            <a:r>
              <a:rPr dirty="0" sz="18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bounding</a:t>
            </a:r>
            <a:r>
              <a:rPr dirty="0" sz="18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boxes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are</a:t>
            </a:r>
            <a:r>
              <a:rPr dirty="0" sz="18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drawn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around</a:t>
            </a:r>
            <a:r>
              <a:rPr dirty="0" sz="18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each</a:t>
            </a:r>
            <a:r>
              <a:rPr dirty="0" sz="18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individual canopy.</a:t>
            </a:r>
            <a:endParaRPr sz="1800">
              <a:latin typeface="Arial"/>
              <a:cs typeface="Arial"/>
            </a:endParaRPr>
          </a:p>
          <a:p>
            <a:pPr marL="363220" marR="20320" indent="-285750">
              <a:lnSpc>
                <a:spcPts val="1750"/>
              </a:lnSpc>
              <a:spcBef>
                <a:spcPts val="1535"/>
              </a:spcBef>
              <a:buChar char="•"/>
              <a:tabLst>
                <a:tab pos="363220" algn="l"/>
              </a:tabLst>
            </a:pP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Red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text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shows</a:t>
            </a:r>
            <a:r>
              <a:rPr dirty="0" sz="18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quantitative</a:t>
            </a:r>
            <a:r>
              <a:rPr dirty="0" sz="18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cooling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estimate</a:t>
            </a:r>
            <a:r>
              <a:rPr dirty="0" sz="18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(ΔT)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for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that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specific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canopy,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as</a:t>
            </a:r>
            <a:r>
              <a:rPr dirty="0" sz="18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calculated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by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thermal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model.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175" y="1123279"/>
            <a:ext cx="212525" cy="21252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43966" y="1115296"/>
            <a:ext cx="91973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Successfully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designed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validated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lightweight,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unsupervised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framework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predict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thermal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cooling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impact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urban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tree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canopies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from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RGB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imagery.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9175" y="1839137"/>
            <a:ext cx="212525" cy="212521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943966" y="1831161"/>
            <a:ext cx="799719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framework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innovatively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combines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SLIC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superpixel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segmentation,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VARI-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based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health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analysis,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physics-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based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thermal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model.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9175" y="2555011"/>
            <a:ext cx="212525" cy="212521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43966" y="2547022"/>
            <a:ext cx="50203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It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provides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quantitative, interpretable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cooling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estimates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(ΔT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in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°C)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individual</a:t>
            </a:r>
            <a:r>
              <a:rPr dirty="0" sz="10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trees.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9175" y="3270872"/>
            <a:ext cx="212525" cy="21252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43966" y="3262883"/>
            <a:ext cx="81451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key</a:t>
            </a:r>
            <a:r>
              <a:rPr dirty="0" sz="10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contribution</a:t>
            </a:r>
            <a:r>
              <a:rPr dirty="0" sz="10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dirty="0" sz="10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scalable</a:t>
            </a:r>
            <a:r>
              <a:rPr dirty="0" sz="10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0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accessible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"white</a:t>
            </a:r>
            <a:r>
              <a:rPr dirty="0" sz="10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box"</a:t>
            </a:r>
            <a:r>
              <a:rPr dirty="0" sz="10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alternative</a:t>
            </a:r>
            <a:r>
              <a:rPr dirty="0" sz="10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0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computationally</a:t>
            </a:r>
            <a:r>
              <a:rPr dirty="0" sz="10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expensive,</a:t>
            </a:r>
            <a:r>
              <a:rPr dirty="0" sz="10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data-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hungry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deep</a:t>
            </a:r>
            <a:r>
              <a:rPr dirty="0" sz="10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learning</a:t>
            </a:r>
            <a:r>
              <a:rPr dirty="0" sz="10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models.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9175" y="3986733"/>
            <a:ext cx="212525" cy="212521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943966" y="3978744"/>
            <a:ext cx="69818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This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tool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empowers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urban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planners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with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data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design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greener,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more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resilient,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thermally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comfortable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smart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cities.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6044" y="4423854"/>
            <a:ext cx="8419388" cy="57605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dirty="0" spc="-40"/>
              <a:t> </a:t>
            </a:r>
            <a:r>
              <a:rPr dirty="0" spc="-20"/>
              <a:t>Work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91280" y="1111449"/>
            <a:ext cx="5680710" cy="434975"/>
            <a:chOff x="491280" y="1111449"/>
            <a:chExt cx="5680710" cy="434975"/>
          </a:xfrm>
        </p:grpSpPr>
        <p:sp>
          <p:nvSpPr>
            <p:cNvPr id="4" name="object 4" descr=""/>
            <p:cNvSpPr/>
            <p:nvPr/>
          </p:nvSpPr>
          <p:spPr>
            <a:xfrm>
              <a:off x="496042" y="1116211"/>
              <a:ext cx="5671185" cy="425450"/>
            </a:xfrm>
            <a:custGeom>
              <a:avLst/>
              <a:gdLst/>
              <a:ahLst/>
              <a:cxnLst/>
              <a:rect l="l" t="t" r="r" b="b"/>
              <a:pathLst>
                <a:path w="5671185" h="425450">
                  <a:moveTo>
                    <a:pt x="5453824" y="0"/>
                  </a:moveTo>
                  <a:lnTo>
                    <a:pt x="216979" y="0"/>
                  </a:lnTo>
                  <a:lnTo>
                    <a:pt x="167231" y="5613"/>
                  </a:lnTo>
                  <a:lnTo>
                    <a:pt x="121561" y="21602"/>
                  </a:lnTo>
                  <a:lnTo>
                    <a:pt x="81273" y="46694"/>
                  </a:lnTo>
                  <a:lnTo>
                    <a:pt x="47670" y="79614"/>
                  </a:lnTo>
                  <a:lnTo>
                    <a:pt x="22055" y="119087"/>
                  </a:lnTo>
                  <a:lnTo>
                    <a:pt x="5731" y="163840"/>
                  </a:lnTo>
                  <a:lnTo>
                    <a:pt x="0" y="212598"/>
                  </a:lnTo>
                  <a:lnTo>
                    <a:pt x="5731" y="261351"/>
                  </a:lnTo>
                  <a:lnTo>
                    <a:pt x="22055" y="306102"/>
                  </a:lnTo>
                  <a:lnTo>
                    <a:pt x="47670" y="345576"/>
                  </a:lnTo>
                  <a:lnTo>
                    <a:pt x="81273" y="378497"/>
                  </a:lnTo>
                  <a:lnTo>
                    <a:pt x="121561" y="403591"/>
                  </a:lnTo>
                  <a:lnTo>
                    <a:pt x="167231" y="419582"/>
                  </a:lnTo>
                  <a:lnTo>
                    <a:pt x="216979" y="425196"/>
                  </a:lnTo>
                  <a:lnTo>
                    <a:pt x="5453824" y="425196"/>
                  </a:lnTo>
                  <a:lnTo>
                    <a:pt x="5503572" y="419582"/>
                  </a:lnTo>
                  <a:lnTo>
                    <a:pt x="5549242" y="403591"/>
                  </a:lnTo>
                  <a:lnTo>
                    <a:pt x="5589529" y="378497"/>
                  </a:lnTo>
                  <a:lnTo>
                    <a:pt x="5623132" y="345576"/>
                  </a:lnTo>
                  <a:lnTo>
                    <a:pt x="5648748" y="306102"/>
                  </a:lnTo>
                  <a:lnTo>
                    <a:pt x="5665072" y="261351"/>
                  </a:lnTo>
                  <a:lnTo>
                    <a:pt x="5670804" y="212598"/>
                  </a:lnTo>
                  <a:lnTo>
                    <a:pt x="5665072" y="163840"/>
                  </a:lnTo>
                  <a:lnTo>
                    <a:pt x="5648748" y="119087"/>
                  </a:lnTo>
                  <a:lnTo>
                    <a:pt x="5623132" y="79614"/>
                  </a:lnTo>
                  <a:lnTo>
                    <a:pt x="5589529" y="46694"/>
                  </a:lnTo>
                  <a:lnTo>
                    <a:pt x="5549242" y="21602"/>
                  </a:lnTo>
                  <a:lnTo>
                    <a:pt x="5503572" y="5613"/>
                  </a:lnTo>
                  <a:lnTo>
                    <a:pt x="5453824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91280" y="1111449"/>
              <a:ext cx="5680710" cy="434975"/>
            </a:xfrm>
            <a:custGeom>
              <a:avLst/>
              <a:gdLst/>
              <a:ahLst/>
              <a:cxnLst/>
              <a:rect l="l" t="t" r="r" b="b"/>
              <a:pathLst>
                <a:path w="5680710" h="434975">
                  <a:moveTo>
                    <a:pt x="5458587" y="0"/>
                  </a:moveTo>
                  <a:lnTo>
                    <a:pt x="221742" y="0"/>
                  </a:lnTo>
                  <a:lnTo>
                    <a:pt x="177072" y="4413"/>
                  </a:lnTo>
                  <a:lnTo>
                    <a:pt x="135458" y="17071"/>
                  </a:lnTo>
                  <a:lnTo>
                    <a:pt x="97793" y="37102"/>
                  </a:lnTo>
                  <a:lnTo>
                    <a:pt x="64972" y="63636"/>
                  </a:lnTo>
                  <a:lnTo>
                    <a:pt x="37888" y="95800"/>
                  </a:lnTo>
                  <a:lnTo>
                    <a:pt x="17435" y="132723"/>
                  </a:lnTo>
                  <a:lnTo>
                    <a:pt x="4507" y="173534"/>
                  </a:lnTo>
                  <a:lnTo>
                    <a:pt x="0" y="217360"/>
                  </a:lnTo>
                  <a:lnTo>
                    <a:pt x="4507" y="261183"/>
                  </a:lnTo>
                  <a:lnTo>
                    <a:pt x="17435" y="301991"/>
                  </a:lnTo>
                  <a:lnTo>
                    <a:pt x="37888" y="338914"/>
                  </a:lnTo>
                  <a:lnTo>
                    <a:pt x="64972" y="371079"/>
                  </a:lnTo>
                  <a:lnTo>
                    <a:pt x="97793" y="397614"/>
                  </a:lnTo>
                  <a:lnTo>
                    <a:pt x="135458" y="417648"/>
                  </a:lnTo>
                  <a:lnTo>
                    <a:pt x="177072" y="430307"/>
                  </a:lnTo>
                  <a:lnTo>
                    <a:pt x="221742" y="434721"/>
                  </a:lnTo>
                  <a:lnTo>
                    <a:pt x="221742" y="429958"/>
                  </a:lnTo>
                  <a:lnTo>
                    <a:pt x="5504401" y="429958"/>
                  </a:lnTo>
                  <a:lnTo>
                    <a:pt x="5520056" y="425196"/>
                  </a:lnTo>
                  <a:lnTo>
                    <a:pt x="221742" y="425196"/>
                  </a:lnTo>
                  <a:lnTo>
                    <a:pt x="173067" y="419701"/>
                  </a:lnTo>
                  <a:lnTo>
                    <a:pt x="128392" y="404053"/>
                  </a:lnTo>
                  <a:lnTo>
                    <a:pt x="88990" y="379504"/>
                  </a:lnTo>
                  <a:lnTo>
                    <a:pt x="56131" y="347307"/>
                  </a:lnTo>
                  <a:lnTo>
                    <a:pt x="31086" y="308716"/>
                  </a:lnTo>
                  <a:lnTo>
                    <a:pt x="15127" y="264982"/>
                  </a:lnTo>
                  <a:lnTo>
                    <a:pt x="9524" y="217360"/>
                  </a:lnTo>
                  <a:lnTo>
                    <a:pt x="15127" y="169738"/>
                  </a:lnTo>
                  <a:lnTo>
                    <a:pt x="31086" y="126004"/>
                  </a:lnTo>
                  <a:lnTo>
                    <a:pt x="56131" y="87413"/>
                  </a:lnTo>
                  <a:lnTo>
                    <a:pt x="88990" y="55216"/>
                  </a:lnTo>
                  <a:lnTo>
                    <a:pt x="128392" y="30667"/>
                  </a:lnTo>
                  <a:lnTo>
                    <a:pt x="173067" y="15019"/>
                  </a:lnTo>
                  <a:lnTo>
                    <a:pt x="221742" y="9525"/>
                  </a:lnTo>
                  <a:lnTo>
                    <a:pt x="221742" y="4762"/>
                  </a:lnTo>
                  <a:lnTo>
                    <a:pt x="5458587" y="4762"/>
                  </a:lnTo>
                  <a:lnTo>
                    <a:pt x="5458587" y="0"/>
                  </a:lnTo>
                  <a:close/>
                </a:path>
                <a:path w="5680710" h="434975">
                  <a:moveTo>
                    <a:pt x="5458587" y="429958"/>
                  </a:moveTo>
                  <a:lnTo>
                    <a:pt x="221742" y="429958"/>
                  </a:lnTo>
                  <a:lnTo>
                    <a:pt x="221742" y="434721"/>
                  </a:lnTo>
                  <a:lnTo>
                    <a:pt x="5458587" y="434721"/>
                  </a:lnTo>
                  <a:lnTo>
                    <a:pt x="5458587" y="429958"/>
                  </a:lnTo>
                  <a:close/>
                </a:path>
                <a:path w="5680710" h="434975">
                  <a:moveTo>
                    <a:pt x="5504401" y="429958"/>
                  </a:moveTo>
                  <a:lnTo>
                    <a:pt x="5458587" y="429958"/>
                  </a:lnTo>
                  <a:lnTo>
                    <a:pt x="5458587" y="434721"/>
                  </a:lnTo>
                  <a:lnTo>
                    <a:pt x="5503254" y="430307"/>
                  </a:lnTo>
                  <a:lnTo>
                    <a:pt x="5504401" y="429958"/>
                  </a:lnTo>
                  <a:close/>
                </a:path>
                <a:path w="5680710" h="434975">
                  <a:moveTo>
                    <a:pt x="5458587" y="0"/>
                  </a:moveTo>
                  <a:lnTo>
                    <a:pt x="5458587" y="4762"/>
                  </a:lnTo>
                  <a:lnTo>
                    <a:pt x="221742" y="4762"/>
                  </a:lnTo>
                  <a:lnTo>
                    <a:pt x="221742" y="9525"/>
                  </a:lnTo>
                  <a:lnTo>
                    <a:pt x="5458587" y="9525"/>
                  </a:lnTo>
                  <a:lnTo>
                    <a:pt x="5507259" y="15019"/>
                  </a:lnTo>
                  <a:lnTo>
                    <a:pt x="5551933" y="30667"/>
                  </a:lnTo>
                  <a:lnTo>
                    <a:pt x="5591335" y="55216"/>
                  </a:lnTo>
                  <a:lnTo>
                    <a:pt x="5624195" y="87413"/>
                  </a:lnTo>
                  <a:lnTo>
                    <a:pt x="5649241" y="126004"/>
                  </a:lnTo>
                  <a:lnTo>
                    <a:pt x="5665201" y="169738"/>
                  </a:lnTo>
                  <a:lnTo>
                    <a:pt x="5670804" y="217360"/>
                  </a:lnTo>
                  <a:lnTo>
                    <a:pt x="5665206" y="264982"/>
                  </a:lnTo>
                  <a:lnTo>
                    <a:pt x="5649259" y="308716"/>
                  </a:lnTo>
                  <a:lnTo>
                    <a:pt x="5624227" y="347307"/>
                  </a:lnTo>
                  <a:lnTo>
                    <a:pt x="5591378" y="379504"/>
                  </a:lnTo>
                  <a:lnTo>
                    <a:pt x="5551977" y="404053"/>
                  </a:lnTo>
                  <a:lnTo>
                    <a:pt x="5507291" y="419701"/>
                  </a:lnTo>
                  <a:lnTo>
                    <a:pt x="5458587" y="425196"/>
                  </a:lnTo>
                  <a:lnTo>
                    <a:pt x="5520056" y="425196"/>
                  </a:lnTo>
                  <a:lnTo>
                    <a:pt x="5582532" y="397614"/>
                  </a:lnTo>
                  <a:lnTo>
                    <a:pt x="5615354" y="371079"/>
                  </a:lnTo>
                  <a:lnTo>
                    <a:pt x="5642439" y="338914"/>
                  </a:lnTo>
                  <a:lnTo>
                    <a:pt x="5662892" y="301991"/>
                  </a:lnTo>
                  <a:lnTo>
                    <a:pt x="5675820" y="261183"/>
                  </a:lnTo>
                  <a:lnTo>
                    <a:pt x="5680329" y="217360"/>
                  </a:lnTo>
                  <a:lnTo>
                    <a:pt x="5675820" y="173534"/>
                  </a:lnTo>
                  <a:lnTo>
                    <a:pt x="5662892" y="132723"/>
                  </a:lnTo>
                  <a:lnTo>
                    <a:pt x="5642439" y="95800"/>
                  </a:lnTo>
                  <a:lnTo>
                    <a:pt x="5615354" y="63636"/>
                  </a:lnTo>
                  <a:lnTo>
                    <a:pt x="5582532" y="37102"/>
                  </a:lnTo>
                  <a:lnTo>
                    <a:pt x="5544867" y="17071"/>
                  </a:lnTo>
                  <a:lnTo>
                    <a:pt x="5503254" y="4413"/>
                  </a:lnTo>
                  <a:lnTo>
                    <a:pt x="5458587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5101" y="1222474"/>
              <a:ext cx="212525" cy="212521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625029" y="1667523"/>
            <a:ext cx="5337175" cy="951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Real-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World</a:t>
            </a:r>
            <a:r>
              <a:rPr dirty="0" sz="1400" spc="1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Calibration: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38900"/>
              </a:lnSpc>
              <a:spcBef>
                <a:spcPts val="355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050" spc="-4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most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critical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next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step.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Involves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using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co-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located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thermal</a:t>
            </a:r>
            <a:r>
              <a:rPr dirty="0" sz="1050" spc="-4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camera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images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adjust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the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model's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parameters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(e.g.,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C_max,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T_base)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until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its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predictions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match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real-world measurements.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303759" y="1111449"/>
            <a:ext cx="5680710" cy="434975"/>
            <a:chOff x="6303759" y="1111449"/>
            <a:chExt cx="5680710" cy="434975"/>
          </a:xfrm>
        </p:grpSpPr>
        <p:sp>
          <p:nvSpPr>
            <p:cNvPr id="9" name="object 9" descr=""/>
            <p:cNvSpPr/>
            <p:nvPr/>
          </p:nvSpPr>
          <p:spPr>
            <a:xfrm>
              <a:off x="6308521" y="1116211"/>
              <a:ext cx="5671185" cy="425450"/>
            </a:xfrm>
            <a:custGeom>
              <a:avLst/>
              <a:gdLst/>
              <a:ahLst/>
              <a:cxnLst/>
              <a:rect l="l" t="t" r="r" b="b"/>
              <a:pathLst>
                <a:path w="5671184" h="425450">
                  <a:moveTo>
                    <a:pt x="5453824" y="0"/>
                  </a:moveTo>
                  <a:lnTo>
                    <a:pt x="216979" y="0"/>
                  </a:lnTo>
                  <a:lnTo>
                    <a:pt x="167231" y="5613"/>
                  </a:lnTo>
                  <a:lnTo>
                    <a:pt x="121561" y="21602"/>
                  </a:lnTo>
                  <a:lnTo>
                    <a:pt x="81273" y="46694"/>
                  </a:lnTo>
                  <a:lnTo>
                    <a:pt x="47670" y="79614"/>
                  </a:lnTo>
                  <a:lnTo>
                    <a:pt x="22055" y="119087"/>
                  </a:lnTo>
                  <a:lnTo>
                    <a:pt x="5731" y="163840"/>
                  </a:lnTo>
                  <a:lnTo>
                    <a:pt x="0" y="212598"/>
                  </a:lnTo>
                  <a:lnTo>
                    <a:pt x="5731" y="261351"/>
                  </a:lnTo>
                  <a:lnTo>
                    <a:pt x="22055" y="306102"/>
                  </a:lnTo>
                  <a:lnTo>
                    <a:pt x="47670" y="345576"/>
                  </a:lnTo>
                  <a:lnTo>
                    <a:pt x="81273" y="378497"/>
                  </a:lnTo>
                  <a:lnTo>
                    <a:pt x="121561" y="403591"/>
                  </a:lnTo>
                  <a:lnTo>
                    <a:pt x="167231" y="419582"/>
                  </a:lnTo>
                  <a:lnTo>
                    <a:pt x="216979" y="425196"/>
                  </a:lnTo>
                  <a:lnTo>
                    <a:pt x="5453824" y="425196"/>
                  </a:lnTo>
                  <a:lnTo>
                    <a:pt x="5503572" y="419582"/>
                  </a:lnTo>
                  <a:lnTo>
                    <a:pt x="5549242" y="403591"/>
                  </a:lnTo>
                  <a:lnTo>
                    <a:pt x="5589529" y="378497"/>
                  </a:lnTo>
                  <a:lnTo>
                    <a:pt x="5623132" y="345576"/>
                  </a:lnTo>
                  <a:lnTo>
                    <a:pt x="5648748" y="306102"/>
                  </a:lnTo>
                  <a:lnTo>
                    <a:pt x="5665072" y="261351"/>
                  </a:lnTo>
                  <a:lnTo>
                    <a:pt x="5670804" y="212598"/>
                  </a:lnTo>
                  <a:lnTo>
                    <a:pt x="5665072" y="163840"/>
                  </a:lnTo>
                  <a:lnTo>
                    <a:pt x="5648748" y="119087"/>
                  </a:lnTo>
                  <a:lnTo>
                    <a:pt x="5623132" y="79614"/>
                  </a:lnTo>
                  <a:lnTo>
                    <a:pt x="5589529" y="46694"/>
                  </a:lnTo>
                  <a:lnTo>
                    <a:pt x="5549242" y="21602"/>
                  </a:lnTo>
                  <a:lnTo>
                    <a:pt x="5503572" y="5613"/>
                  </a:lnTo>
                  <a:lnTo>
                    <a:pt x="5453824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303759" y="1111449"/>
              <a:ext cx="5680710" cy="434975"/>
            </a:xfrm>
            <a:custGeom>
              <a:avLst/>
              <a:gdLst/>
              <a:ahLst/>
              <a:cxnLst/>
              <a:rect l="l" t="t" r="r" b="b"/>
              <a:pathLst>
                <a:path w="5680709" h="434975">
                  <a:moveTo>
                    <a:pt x="5458587" y="0"/>
                  </a:moveTo>
                  <a:lnTo>
                    <a:pt x="221742" y="0"/>
                  </a:lnTo>
                  <a:lnTo>
                    <a:pt x="177072" y="4413"/>
                  </a:lnTo>
                  <a:lnTo>
                    <a:pt x="135458" y="17071"/>
                  </a:lnTo>
                  <a:lnTo>
                    <a:pt x="97793" y="37102"/>
                  </a:lnTo>
                  <a:lnTo>
                    <a:pt x="64972" y="63636"/>
                  </a:lnTo>
                  <a:lnTo>
                    <a:pt x="37888" y="95800"/>
                  </a:lnTo>
                  <a:lnTo>
                    <a:pt x="17435" y="132723"/>
                  </a:lnTo>
                  <a:lnTo>
                    <a:pt x="4507" y="173534"/>
                  </a:lnTo>
                  <a:lnTo>
                    <a:pt x="0" y="217360"/>
                  </a:lnTo>
                  <a:lnTo>
                    <a:pt x="4507" y="261183"/>
                  </a:lnTo>
                  <a:lnTo>
                    <a:pt x="17435" y="301991"/>
                  </a:lnTo>
                  <a:lnTo>
                    <a:pt x="37888" y="338914"/>
                  </a:lnTo>
                  <a:lnTo>
                    <a:pt x="64972" y="371079"/>
                  </a:lnTo>
                  <a:lnTo>
                    <a:pt x="97793" y="397614"/>
                  </a:lnTo>
                  <a:lnTo>
                    <a:pt x="135458" y="417648"/>
                  </a:lnTo>
                  <a:lnTo>
                    <a:pt x="177072" y="430307"/>
                  </a:lnTo>
                  <a:lnTo>
                    <a:pt x="221742" y="434721"/>
                  </a:lnTo>
                  <a:lnTo>
                    <a:pt x="221742" y="429958"/>
                  </a:lnTo>
                  <a:lnTo>
                    <a:pt x="5504401" y="429958"/>
                  </a:lnTo>
                  <a:lnTo>
                    <a:pt x="5520056" y="425196"/>
                  </a:lnTo>
                  <a:lnTo>
                    <a:pt x="221742" y="425196"/>
                  </a:lnTo>
                  <a:lnTo>
                    <a:pt x="173067" y="419701"/>
                  </a:lnTo>
                  <a:lnTo>
                    <a:pt x="128392" y="404053"/>
                  </a:lnTo>
                  <a:lnTo>
                    <a:pt x="88990" y="379504"/>
                  </a:lnTo>
                  <a:lnTo>
                    <a:pt x="56131" y="347307"/>
                  </a:lnTo>
                  <a:lnTo>
                    <a:pt x="31086" y="308716"/>
                  </a:lnTo>
                  <a:lnTo>
                    <a:pt x="15127" y="264982"/>
                  </a:lnTo>
                  <a:lnTo>
                    <a:pt x="9524" y="217360"/>
                  </a:lnTo>
                  <a:lnTo>
                    <a:pt x="15127" y="169738"/>
                  </a:lnTo>
                  <a:lnTo>
                    <a:pt x="31086" y="126004"/>
                  </a:lnTo>
                  <a:lnTo>
                    <a:pt x="56131" y="87413"/>
                  </a:lnTo>
                  <a:lnTo>
                    <a:pt x="88990" y="55216"/>
                  </a:lnTo>
                  <a:lnTo>
                    <a:pt x="128392" y="30667"/>
                  </a:lnTo>
                  <a:lnTo>
                    <a:pt x="173067" y="15019"/>
                  </a:lnTo>
                  <a:lnTo>
                    <a:pt x="221742" y="9525"/>
                  </a:lnTo>
                  <a:lnTo>
                    <a:pt x="221742" y="4762"/>
                  </a:lnTo>
                  <a:lnTo>
                    <a:pt x="5458587" y="4762"/>
                  </a:lnTo>
                  <a:lnTo>
                    <a:pt x="5458587" y="0"/>
                  </a:lnTo>
                  <a:close/>
                </a:path>
                <a:path w="5680709" h="434975">
                  <a:moveTo>
                    <a:pt x="5458587" y="429958"/>
                  </a:moveTo>
                  <a:lnTo>
                    <a:pt x="221742" y="429958"/>
                  </a:lnTo>
                  <a:lnTo>
                    <a:pt x="221742" y="434721"/>
                  </a:lnTo>
                  <a:lnTo>
                    <a:pt x="5458587" y="434721"/>
                  </a:lnTo>
                  <a:lnTo>
                    <a:pt x="5458587" y="429958"/>
                  </a:lnTo>
                  <a:close/>
                </a:path>
                <a:path w="5680709" h="434975">
                  <a:moveTo>
                    <a:pt x="5504401" y="429958"/>
                  </a:moveTo>
                  <a:lnTo>
                    <a:pt x="5458587" y="429958"/>
                  </a:lnTo>
                  <a:lnTo>
                    <a:pt x="5458587" y="434721"/>
                  </a:lnTo>
                  <a:lnTo>
                    <a:pt x="5503254" y="430307"/>
                  </a:lnTo>
                  <a:lnTo>
                    <a:pt x="5504401" y="429958"/>
                  </a:lnTo>
                  <a:close/>
                </a:path>
                <a:path w="5680709" h="434975">
                  <a:moveTo>
                    <a:pt x="5458587" y="0"/>
                  </a:moveTo>
                  <a:lnTo>
                    <a:pt x="5458587" y="4762"/>
                  </a:lnTo>
                  <a:lnTo>
                    <a:pt x="221742" y="4762"/>
                  </a:lnTo>
                  <a:lnTo>
                    <a:pt x="221742" y="9525"/>
                  </a:lnTo>
                  <a:lnTo>
                    <a:pt x="5458587" y="9525"/>
                  </a:lnTo>
                  <a:lnTo>
                    <a:pt x="5507259" y="15019"/>
                  </a:lnTo>
                  <a:lnTo>
                    <a:pt x="5551933" y="30667"/>
                  </a:lnTo>
                  <a:lnTo>
                    <a:pt x="5591335" y="55216"/>
                  </a:lnTo>
                  <a:lnTo>
                    <a:pt x="5624195" y="87413"/>
                  </a:lnTo>
                  <a:lnTo>
                    <a:pt x="5649241" y="126004"/>
                  </a:lnTo>
                  <a:lnTo>
                    <a:pt x="5665201" y="169738"/>
                  </a:lnTo>
                  <a:lnTo>
                    <a:pt x="5670804" y="217360"/>
                  </a:lnTo>
                  <a:lnTo>
                    <a:pt x="5665206" y="264982"/>
                  </a:lnTo>
                  <a:lnTo>
                    <a:pt x="5649259" y="308716"/>
                  </a:lnTo>
                  <a:lnTo>
                    <a:pt x="5624227" y="347307"/>
                  </a:lnTo>
                  <a:lnTo>
                    <a:pt x="5591378" y="379504"/>
                  </a:lnTo>
                  <a:lnTo>
                    <a:pt x="5551977" y="404053"/>
                  </a:lnTo>
                  <a:lnTo>
                    <a:pt x="5507291" y="419701"/>
                  </a:lnTo>
                  <a:lnTo>
                    <a:pt x="5458587" y="425196"/>
                  </a:lnTo>
                  <a:lnTo>
                    <a:pt x="5520056" y="425196"/>
                  </a:lnTo>
                  <a:lnTo>
                    <a:pt x="5582532" y="397614"/>
                  </a:lnTo>
                  <a:lnTo>
                    <a:pt x="5615354" y="371079"/>
                  </a:lnTo>
                  <a:lnTo>
                    <a:pt x="5642439" y="338914"/>
                  </a:lnTo>
                  <a:lnTo>
                    <a:pt x="5662892" y="301991"/>
                  </a:lnTo>
                  <a:lnTo>
                    <a:pt x="5675820" y="261183"/>
                  </a:lnTo>
                  <a:lnTo>
                    <a:pt x="5680329" y="217360"/>
                  </a:lnTo>
                  <a:lnTo>
                    <a:pt x="5675820" y="173534"/>
                  </a:lnTo>
                  <a:lnTo>
                    <a:pt x="5662892" y="132723"/>
                  </a:lnTo>
                  <a:lnTo>
                    <a:pt x="5642439" y="95800"/>
                  </a:lnTo>
                  <a:lnTo>
                    <a:pt x="5615354" y="63636"/>
                  </a:lnTo>
                  <a:lnTo>
                    <a:pt x="5582532" y="37102"/>
                  </a:lnTo>
                  <a:lnTo>
                    <a:pt x="5544867" y="17071"/>
                  </a:lnTo>
                  <a:lnTo>
                    <a:pt x="5503254" y="4413"/>
                  </a:lnTo>
                  <a:lnTo>
                    <a:pt x="5458587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37586" y="1222474"/>
              <a:ext cx="212526" cy="212521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6437515" y="1667523"/>
            <a:ext cx="5389880" cy="951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3D</a:t>
            </a:r>
            <a:r>
              <a:rPr dirty="0" sz="1400" spc="-20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Data</a:t>
            </a: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 Integration: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38900"/>
              </a:lnSpc>
              <a:spcBef>
                <a:spcPts val="355"/>
              </a:spcBef>
            </a:pP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current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model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uses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2D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pixel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area.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future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version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could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integrate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3D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data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(from</a:t>
            </a:r>
            <a:r>
              <a:rPr dirty="0" sz="1050" spc="50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LiDAR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or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smartphone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scanning)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use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canopy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volume,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providing</a:t>
            </a:r>
            <a:r>
              <a:rPr dirty="0" sz="10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more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accurate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input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 for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050" spc="-5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shading</a:t>
            </a:r>
            <a:r>
              <a:rPr dirty="0" sz="1050" spc="-4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model.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2116244" y="1111449"/>
            <a:ext cx="5680710" cy="434975"/>
            <a:chOff x="12116244" y="1111449"/>
            <a:chExt cx="5680710" cy="434975"/>
          </a:xfrm>
        </p:grpSpPr>
        <p:sp>
          <p:nvSpPr>
            <p:cNvPr id="14" name="object 14" descr=""/>
            <p:cNvSpPr/>
            <p:nvPr/>
          </p:nvSpPr>
          <p:spPr>
            <a:xfrm>
              <a:off x="12121006" y="1116211"/>
              <a:ext cx="5671185" cy="425450"/>
            </a:xfrm>
            <a:custGeom>
              <a:avLst/>
              <a:gdLst/>
              <a:ahLst/>
              <a:cxnLst/>
              <a:rect l="l" t="t" r="r" b="b"/>
              <a:pathLst>
                <a:path w="5671184" h="425450">
                  <a:moveTo>
                    <a:pt x="5453824" y="0"/>
                  </a:moveTo>
                  <a:lnTo>
                    <a:pt x="216979" y="0"/>
                  </a:lnTo>
                  <a:lnTo>
                    <a:pt x="167231" y="5613"/>
                  </a:lnTo>
                  <a:lnTo>
                    <a:pt x="121561" y="21602"/>
                  </a:lnTo>
                  <a:lnTo>
                    <a:pt x="81273" y="46694"/>
                  </a:lnTo>
                  <a:lnTo>
                    <a:pt x="47670" y="79614"/>
                  </a:lnTo>
                  <a:lnTo>
                    <a:pt x="22055" y="119087"/>
                  </a:lnTo>
                  <a:lnTo>
                    <a:pt x="5731" y="163840"/>
                  </a:lnTo>
                  <a:lnTo>
                    <a:pt x="0" y="212598"/>
                  </a:lnTo>
                  <a:lnTo>
                    <a:pt x="5731" y="261351"/>
                  </a:lnTo>
                  <a:lnTo>
                    <a:pt x="22055" y="306102"/>
                  </a:lnTo>
                  <a:lnTo>
                    <a:pt x="47670" y="345576"/>
                  </a:lnTo>
                  <a:lnTo>
                    <a:pt x="81273" y="378497"/>
                  </a:lnTo>
                  <a:lnTo>
                    <a:pt x="121561" y="403591"/>
                  </a:lnTo>
                  <a:lnTo>
                    <a:pt x="167231" y="419582"/>
                  </a:lnTo>
                  <a:lnTo>
                    <a:pt x="216979" y="425196"/>
                  </a:lnTo>
                  <a:lnTo>
                    <a:pt x="5453824" y="425196"/>
                  </a:lnTo>
                  <a:lnTo>
                    <a:pt x="5503572" y="419582"/>
                  </a:lnTo>
                  <a:lnTo>
                    <a:pt x="5549242" y="403591"/>
                  </a:lnTo>
                  <a:lnTo>
                    <a:pt x="5589529" y="378497"/>
                  </a:lnTo>
                  <a:lnTo>
                    <a:pt x="5623132" y="345576"/>
                  </a:lnTo>
                  <a:lnTo>
                    <a:pt x="5648748" y="306102"/>
                  </a:lnTo>
                  <a:lnTo>
                    <a:pt x="5665072" y="261351"/>
                  </a:lnTo>
                  <a:lnTo>
                    <a:pt x="5670804" y="212598"/>
                  </a:lnTo>
                  <a:lnTo>
                    <a:pt x="5665072" y="163840"/>
                  </a:lnTo>
                  <a:lnTo>
                    <a:pt x="5648748" y="119087"/>
                  </a:lnTo>
                  <a:lnTo>
                    <a:pt x="5623132" y="79614"/>
                  </a:lnTo>
                  <a:lnTo>
                    <a:pt x="5589529" y="46694"/>
                  </a:lnTo>
                  <a:lnTo>
                    <a:pt x="5549242" y="21602"/>
                  </a:lnTo>
                  <a:lnTo>
                    <a:pt x="5503572" y="5613"/>
                  </a:lnTo>
                  <a:lnTo>
                    <a:pt x="5453824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2116244" y="1111449"/>
              <a:ext cx="5680710" cy="434975"/>
            </a:xfrm>
            <a:custGeom>
              <a:avLst/>
              <a:gdLst/>
              <a:ahLst/>
              <a:cxnLst/>
              <a:rect l="l" t="t" r="r" b="b"/>
              <a:pathLst>
                <a:path w="5680709" h="434975">
                  <a:moveTo>
                    <a:pt x="5458587" y="0"/>
                  </a:moveTo>
                  <a:lnTo>
                    <a:pt x="221742" y="0"/>
                  </a:lnTo>
                  <a:lnTo>
                    <a:pt x="177072" y="4413"/>
                  </a:lnTo>
                  <a:lnTo>
                    <a:pt x="135458" y="17071"/>
                  </a:lnTo>
                  <a:lnTo>
                    <a:pt x="97793" y="37102"/>
                  </a:lnTo>
                  <a:lnTo>
                    <a:pt x="64972" y="63636"/>
                  </a:lnTo>
                  <a:lnTo>
                    <a:pt x="37888" y="95800"/>
                  </a:lnTo>
                  <a:lnTo>
                    <a:pt x="17435" y="132723"/>
                  </a:lnTo>
                  <a:lnTo>
                    <a:pt x="4507" y="173534"/>
                  </a:lnTo>
                  <a:lnTo>
                    <a:pt x="0" y="217360"/>
                  </a:lnTo>
                  <a:lnTo>
                    <a:pt x="4507" y="261183"/>
                  </a:lnTo>
                  <a:lnTo>
                    <a:pt x="17435" y="301991"/>
                  </a:lnTo>
                  <a:lnTo>
                    <a:pt x="37888" y="338914"/>
                  </a:lnTo>
                  <a:lnTo>
                    <a:pt x="64972" y="371079"/>
                  </a:lnTo>
                  <a:lnTo>
                    <a:pt x="97793" y="397614"/>
                  </a:lnTo>
                  <a:lnTo>
                    <a:pt x="135458" y="417648"/>
                  </a:lnTo>
                  <a:lnTo>
                    <a:pt x="177072" y="430307"/>
                  </a:lnTo>
                  <a:lnTo>
                    <a:pt x="221742" y="434721"/>
                  </a:lnTo>
                  <a:lnTo>
                    <a:pt x="221742" y="429958"/>
                  </a:lnTo>
                  <a:lnTo>
                    <a:pt x="5504401" y="429958"/>
                  </a:lnTo>
                  <a:lnTo>
                    <a:pt x="5520056" y="425196"/>
                  </a:lnTo>
                  <a:lnTo>
                    <a:pt x="221742" y="425196"/>
                  </a:lnTo>
                  <a:lnTo>
                    <a:pt x="173067" y="419701"/>
                  </a:lnTo>
                  <a:lnTo>
                    <a:pt x="128392" y="404053"/>
                  </a:lnTo>
                  <a:lnTo>
                    <a:pt x="88990" y="379504"/>
                  </a:lnTo>
                  <a:lnTo>
                    <a:pt x="56131" y="347307"/>
                  </a:lnTo>
                  <a:lnTo>
                    <a:pt x="31086" y="308716"/>
                  </a:lnTo>
                  <a:lnTo>
                    <a:pt x="15127" y="264982"/>
                  </a:lnTo>
                  <a:lnTo>
                    <a:pt x="9524" y="217360"/>
                  </a:lnTo>
                  <a:lnTo>
                    <a:pt x="15127" y="169738"/>
                  </a:lnTo>
                  <a:lnTo>
                    <a:pt x="31086" y="126004"/>
                  </a:lnTo>
                  <a:lnTo>
                    <a:pt x="56131" y="87413"/>
                  </a:lnTo>
                  <a:lnTo>
                    <a:pt x="88990" y="55216"/>
                  </a:lnTo>
                  <a:lnTo>
                    <a:pt x="128392" y="30667"/>
                  </a:lnTo>
                  <a:lnTo>
                    <a:pt x="173067" y="15019"/>
                  </a:lnTo>
                  <a:lnTo>
                    <a:pt x="221742" y="9525"/>
                  </a:lnTo>
                  <a:lnTo>
                    <a:pt x="221742" y="4762"/>
                  </a:lnTo>
                  <a:lnTo>
                    <a:pt x="5458587" y="4762"/>
                  </a:lnTo>
                  <a:lnTo>
                    <a:pt x="5458587" y="0"/>
                  </a:lnTo>
                  <a:close/>
                </a:path>
                <a:path w="5680709" h="434975">
                  <a:moveTo>
                    <a:pt x="5458587" y="429958"/>
                  </a:moveTo>
                  <a:lnTo>
                    <a:pt x="221742" y="429958"/>
                  </a:lnTo>
                  <a:lnTo>
                    <a:pt x="221742" y="434721"/>
                  </a:lnTo>
                  <a:lnTo>
                    <a:pt x="5458587" y="434721"/>
                  </a:lnTo>
                  <a:lnTo>
                    <a:pt x="5458587" y="429958"/>
                  </a:lnTo>
                  <a:close/>
                </a:path>
                <a:path w="5680709" h="434975">
                  <a:moveTo>
                    <a:pt x="5504401" y="429958"/>
                  </a:moveTo>
                  <a:lnTo>
                    <a:pt x="5458587" y="429958"/>
                  </a:lnTo>
                  <a:lnTo>
                    <a:pt x="5458587" y="434721"/>
                  </a:lnTo>
                  <a:lnTo>
                    <a:pt x="5503254" y="430307"/>
                  </a:lnTo>
                  <a:lnTo>
                    <a:pt x="5504401" y="429958"/>
                  </a:lnTo>
                  <a:close/>
                </a:path>
                <a:path w="5680709" h="434975">
                  <a:moveTo>
                    <a:pt x="5458587" y="0"/>
                  </a:moveTo>
                  <a:lnTo>
                    <a:pt x="5458587" y="4762"/>
                  </a:lnTo>
                  <a:lnTo>
                    <a:pt x="221742" y="4762"/>
                  </a:lnTo>
                  <a:lnTo>
                    <a:pt x="221742" y="9525"/>
                  </a:lnTo>
                  <a:lnTo>
                    <a:pt x="5458587" y="9525"/>
                  </a:lnTo>
                  <a:lnTo>
                    <a:pt x="5507259" y="15019"/>
                  </a:lnTo>
                  <a:lnTo>
                    <a:pt x="5551933" y="30667"/>
                  </a:lnTo>
                  <a:lnTo>
                    <a:pt x="5591335" y="55216"/>
                  </a:lnTo>
                  <a:lnTo>
                    <a:pt x="5624195" y="87413"/>
                  </a:lnTo>
                  <a:lnTo>
                    <a:pt x="5649241" y="126004"/>
                  </a:lnTo>
                  <a:lnTo>
                    <a:pt x="5665201" y="169738"/>
                  </a:lnTo>
                  <a:lnTo>
                    <a:pt x="5670804" y="217360"/>
                  </a:lnTo>
                  <a:lnTo>
                    <a:pt x="5665206" y="264982"/>
                  </a:lnTo>
                  <a:lnTo>
                    <a:pt x="5649259" y="308716"/>
                  </a:lnTo>
                  <a:lnTo>
                    <a:pt x="5624227" y="347307"/>
                  </a:lnTo>
                  <a:lnTo>
                    <a:pt x="5591378" y="379504"/>
                  </a:lnTo>
                  <a:lnTo>
                    <a:pt x="5551977" y="404053"/>
                  </a:lnTo>
                  <a:lnTo>
                    <a:pt x="5507291" y="419701"/>
                  </a:lnTo>
                  <a:lnTo>
                    <a:pt x="5458587" y="425196"/>
                  </a:lnTo>
                  <a:lnTo>
                    <a:pt x="5520056" y="425196"/>
                  </a:lnTo>
                  <a:lnTo>
                    <a:pt x="5582532" y="397614"/>
                  </a:lnTo>
                  <a:lnTo>
                    <a:pt x="5615354" y="371079"/>
                  </a:lnTo>
                  <a:lnTo>
                    <a:pt x="5642439" y="338914"/>
                  </a:lnTo>
                  <a:lnTo>
                    <a:pt x="5662892" y="301991"/>
                  </a:lnTo>
                  <a:lnTo>
                    <a:pt x="5675820" y="261183"/>
                  </a:lnTo>
                  <a:lnTo>
                    <a:pt x="5680329" y="217360"/>
                  </a:lnTo>
                  <a:lnTo>
                    <a:pt x="5675820" y="173534"/>
                  </a:lnTo>
                  <a:lnTo>
                    <a:pt x="5662892" y="132723"/>
                  </a:lnTo>
                  <a:lnTo>
                    <a:pt x="5642439" y="95800"/>
                  </a:lnTo>
                  <a:lnTo>
                    <a:pt x="5615354" y="63636"/>
                  </a:lnTo>
                  <a:lnTo>
                    <a:pt x="5582532" y="37102"/>
                  </a:lnTo>
                  <a:lnTo>
                    <a:pt x="5544867" y="17071"/>
                  </a:lnTo>
                  <a:lnTo>
                    <a:pt x="5503254" y="4413"/>
                  </a:lnTo>
                  <a:lnTo>
                    <a:pt x="5458587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50109" y="1222474"/>
              <a:ext cx="212525" cy="212521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2249987" y="1667523"/>
            <a:ext cx="5330190" cy="728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272424"/>
                </a:solidFill>
                <a:latin typeface="Arial"/>
                <a:cs typeface="Arial"/>
              </a:rPr>
              <a:t>Parameter</a:t>
            </a:r>
            <a:r>
              <a:rPr dirty="0" sz="1400" spc="-45" b="1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272424"/>
                </a:solidFill>
                <a:latin typeface="Arial"/>
                <a:cs typeface="Arial"/>
              </a:rPr>
              <a:t>Automation: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38900"/>
              </a:lnSpc>
              <a:spcBef>
                <a:spcPts val="355"/>
              </a:spcBef>
            </a:pP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Investigate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methods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automatically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estimate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optimal</a:t>
            </a:r>
            <a:r>
              <a:rPr dirty="0" sz="10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parameters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(like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n_segments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72424"/>
                </a:solidFill>
                <a:latin typeface="Arial"/>
                <a:cs typeface="Arial"/>
              </a:rPr>
              <a:t>and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vari_thresh)</a:t>
            </a:r>
            <a:r>
              <a:rPr dirty="0" sz="10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based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on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image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properties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(e.g.,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resolution,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texture)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reduce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72424"/>
                </a:solidFill>
                <a:latin typeface="Arial"/>
                <a:cs typeface="Arial"/>
              </a:rPr>
              <a:t>manual</a:t>
            </a:r>
            <a:r>
              <a:rPr dirty="0" sz="10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Arial"/>
                <a:cs typeface="Arial"/>
              </a:rPr>
              <a:t>tuning.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6044" y="2971050"/>
            <a:ext cx="10774298" cy="73159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048989" y="9686925"/>
            <a:ext cx="2153285" cy="514350"/>
          </a:xfrm>
          <a:custGeom>
            <a:avLst/>
            <a:gdLst/>
            <a:ahLst/>
            <a:cxnLst/>
            <a:rect l="l" t="t" r="r" b="b"/>
            <a:pathLst>
              <a:path w="2153284" h="514350">
                <a:moveTo>
                  <a:pt x="0" y="0"/>
                </a:moveTo>
                <a:lnTo>
                  <a:pt x="2153221" y="0"/>
                </a:lnTo>
                <a:lnTo>
                  <a:pt x="2153221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8992" y="1127230"/>
            <a:ext cx="3549015" cy="8102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150" spc="-10"/>
              <a:t>References</a:t>
            </a:r>
            <a:endParaRPr sz="5150"/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7640" marR="5080" indent="-155575">
              <a:lnSpc>
                <a:spcPct val="134600"/>
              </a:lnSpc>
              <a:spcBef>
                <a:spcPts val="100"/>
              </a:spcBef>
            </a:pPr>
            <a:r>
              <a:rPr dirty="0"/>
              <a:t>1.Achanta,</a:t>
            </a:r>
            <a:r>
              <a:rPr dirty="0" spc="-35"/>
              <a:t> </a:t>
            </a:r>
            <a:r>
              <a:rPr dirty="0"/>
              <a:t>R.,</a:t>
            </a:r>
            <a:r>
              <a:rPr dirty="0" spc="-30"/>
              <a:t> </a:t>
            </a:r>
            <a:r>
              <a:rPr dirty="0"/>
              <a:t>Shaji,</a:t>
            </a:r>
            <a:r>
              <a:rPr dirty="0" spc="-30"/>
              <a:t> </a:t>
            </a:r>
            <a:r>
              <a:rPr dirty="0"/>
              <a:t>A.,</a:t>
            </a:r>
            <a:r>
              <a:rPr dirty="0" spc="-30"/>
              <a:t> </a:t>
            </a:r>
            <a:r>
              <a:rPr dirty="0"/>
              <a:t>Smith,</a:t>
            </a:r>
            <a:r>
              <a:rPr dirty="0" spc="-30"/>
              <a:t> </a:t>
            </a:r>
            <a:r>
              <a:rPr dirty="0"/>
              <a:t>K.,</a:t>
            </a:r>
            <a:r>
              <a:rPr dirty="0" spc="-30"/>
              <a:t> </a:t>
            </a:r>
            <a:r>
              <a:rPr dirty="0"/>
              <a:t>et</a:t>
            </a:r>
            <a:r>
              <a:rPr dirty="0" spc="-30"/>
              <a:t> </a:t>
            </a:r>
            <a:r>
              <a:rPr dirty="0"/>
              <a:t>al.</a:t>
            </a:r>
            <a:r>
              <a:rPr dirty="0" spc="-30"/>
              <a:t> </a:t>
            </a:r>
            <a:r>
              <a:rPr dirty="0"/>
              <a:t>(2012).</a:t>
            </a:r>
            <a:r>
              <a:rPr dirty="0" spc="-30"/>
              <a:t> </a:t>
            </a:r>
            <a:r>
              <a:rPr dirty="0"/>
              <a:t>"SLIC</a:t>
            </a:r>
            <a:r>
              <a:rPr dirty="0" spc="-30"/>
              <a:t> </a:t>
            </a:r>
            <a:r>
              <a:rPr dirty="0"/>
              <a:t>Superpixels</a:t>
            </a:r>
            <a:r>
              <a:rPr dirty="0" spc="-30"/>
              <a:t> </a:t>
            </a:r>
            <a:r>
              <a:rPr dirty="0"/>
              <a:t>Compared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 spc="-10"/>
              <a:t>State-</a:t>
            </a:r>
            <a:r>
              <a:rPr dirty="0" spc="-20"/>
              <a:t>of-</a:t>
            </a:r>
            <a:r>
              <a:rPr dirty="0" spc="-10"/>
              <a:t>the-</a:t>
            </a:r>
            <a:r>
              <a:rPr dirty="0"/>
              <a:t>Art</a:t>
            </a:r>
            <a:r>
              <a:rPr dirty="0" spc="-30"/>
              <a:t> </a:t>
            </a:r>
            <a:r>
              <a:rPr dirty="0"/>
              <a:t>Superpixel</a:t>
            </a:r>
            <a:r>
              <a:rPr dirty="0" spc="-30"/>
              <a:t> </a:t>
            </a:r>
            <a:r>
              <a:rPr dirty="0"/>
              <a:t>Methods."</a:t>
            </a:r>
            <a:r>
              <a:rPr dirty="0" spc="-30"/>
              <a:t> </a:t>
            </a:r>
            <a:r>
              <a:rPr dirty="0"/>
              <a:t>IEEE</a:t>
            </a:r>
            <a:r>
              <a:rPr dirty="0" spc="-30"/>
              <a:t> </a:t>
            </a:r>
            <a:r>
              <a:rPr dirty="0"/>
              <a:t>Transactions</a:t>
            </a:r>
            <a:r>
              <a:rPr dirty="0" spc="-30"/>
              <a:t> </a:t>
            </a:r>
            <a:r>
              <a:rPr dirty="0" spc="-25"/>
              <a:t>on </a:t>
            </a:r>
            <a:r>
              <a:rPr dirty="0"/>
              <a:t>Pattern</a:t>
            </a:r>
            <a:r>
              <a:rPr dirty="0" spc="-20"/>
              <a:t> </a:t>
            </a:r>
            <a:r>
              <a:rPr dirty="0"/>
              <a:t>Analysis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Machine</a:t>
            </a:r>
            <a:r>
              <a:rPr dirty="0" spc="-20"/>
              <a:t> </a:t>
            </a:r>
            <a:r>
              <a:rPr dirty="0" spc="-10"/>
              <a:t>Intelligence.</a:t>
            </a:r>
          </a:p>
          <a:p>
            <a:pPr marL="167640" marR="755650" indent="-155575">
              <a:lnSpc>
                <a:spcPct val="134600"/>
              </a:lnSpc>
              <a:spcBef>
                <a:spcPts val="740"/>
              </a:spcBef>
            </a:pPr>
            <a:r>
              <a:rPr dirty="0"/>
              <a:t>1.Berland,</a:t>
            </a:r>
            <a:r>
              <a:rPr dirty="0" spc="-30"/>
              <a:t> </a:t>
            </a:r>
            <a:r>
              <a:rPr dirty="0"/>
              <a:t>A.,</a:t>
            </a:r>
            <a:r>
              <a:rPr dirty="0" spc="-30"/>
              <a:t> </a:t>
            </a:r>
            <a:r>
              <a:rPr dirty="0"/>
              <a:t>et</a:t>
            </a:r>
            <a:r>
              <a:rPr dirty="0" spc="-25"/>
              <a:t> </a:t>
            </a:r>
            <a:r>
              <a:rPr dirty="0"/>
              <a:t>al.</a:t>
            </a:r>
            <a:r>
              <a:rPr dirty="0" spc="-30"/>
              <a:t> </a:t>
            </a:r>
            <a:r>
              <a:rPr dirty="0"/>
              <a:t>(2021).</a:t>
            </a:r>
            <a:r>
              <a:rPr dirty="0" spc="-25"/>
              <a:t> </a:t>
            </a:r>
            <a:r>
              <a:rPr dirty="0"/>
              <a:t>"Mapping</a:t>
            </a:r>
            <a:r>
              <a:rPr dirty="0" spc="-30"/>
              <a:t> </a:t>
            </a:r>
            <a:r>
              <a:rPr dirty="0"/>
              <a:t>trees</a:t>
            </a:r>
            <a:r>
              <a:rPr dirty="0" spc="-25"/>
              <a:t> </a:t>
            </a:r>
            <a:r>
              <a:rPr dirty="0"/>
              <a:t>along</a:t>
            </a:r>
            <a:r>
              <a:rPr dirty="0" spc="-30"/>
              <a:t> </a:t>
            </a:r>
            <a:r>
              <a:rPr dirty="0"/>
              <a:t>urban</a:t>
            </a:r>
            <a:r>
              <a:rPr dirty="0" spc="-30"/>
              <a:t> </a:t>
            </a:r>
            <a:r>
              <a:rPr dirty="0"/>
              <a:t>street</a:t>
            </a:r>
            <a:r>
              <a:rPr dirty="0" spc="-25"/>
              <a:t> </a:t>
            </a:r>
            <a:r>
              <a:rPr dirty="0"/>
              <a:t>networks</a:t>
            </a:r>
            <a:r>
              <a:rPr dirty="0" spc="-30"/>
              <a:t> </a:t>
            </a:r>
            <a:r>
              <a:rPr dirty="0"/>
              <a:t>with</a:t>
            </a:r>
            <a:r>
              <a:rPr dirty="0" spc="-25"/>
              <a:t> </a:t>
            </a:r>
            <a:r>
              <a:rPr dirty="0"/>
              <a:t>deep</a:t>
            </a:r>
            <a:r>
              <a:rPr dirty="0" spc="-30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20"/>
              <a:t>street-</a:t>
            </a:r>
            <a:r>
              <a:rPr dirty="0"/>
              <a:t>level</a:t>
            </a:r>
            <a:r>
              <a:rPr dirty="0" spc="-30"/>
              <a:t> </a:t>
            </a:r>
            <a:r>
              <a:rPr dirty="0"/>
              <a:t>imagery."</a:t>
            </a:r>
            <a:r>
              <a:rPr dirty="0" spc="-25"/>
              <a:t> </a:t>
            </a:r>
            <a:r>
              <a:rPr dirty="0"/>
              <a:t>ISPRS</a:t>
            </a:r>
            <a:r>
              <a:rPr dirty="0" spc="-30"/>
              <a:t> </a:t>
            </a:r>
            <a:r>
              <a:rPr dirty="0"/>
              <a:t>Journal</a:t>
            </a:r>
            <a:r>
              <a:rPr dirty="0" spc="-25"/>
              <a:t> of </a:t>
            </a:r>
            <a:r>
              <a:rPr dirty="0" spc="-10"/>
              <a:t>Photogrammetry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Remote</a:t>
            </a:r>
            <a:r>
              <a:rPr dirty="0" spc="-25"/>
              <a:t> </a:t>
            </a:r>
            <a:r>
              <a:rPr dirty="0" spc="-10"/>
              <a:t>Sensing.</a:t>
            </a: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/>
              <a:t>1.Cai,</a:t>
            </a:r>
            <a:r>
              <a:rPr dirty="0" spc="-30"/>
              <a:t> </a:t>
            </a:r>
            <a:r>
              <a:rPr dirty="0"/>
              <a:t>Y.,</a:t>
            </a:r>
            <a:r>
              <a:rPr dirty="0" spc="-30"/>
              <a:t> </a:t>
            </a:r>
            <a:r>
              <a:rPr dirty="0"/>
              <a:t>Li,</a:t>
            </a:r>
            <a:r>
              <a:rPr dirty="0" spc="-25"/>
              <a:t> </a:t>
            </a:r>
            <a:r>
              <a:rPr dirty="0"/>
              <a:t>W.,</a:t>
            </a:r>
            <a:r>
              <a:rPr dirty="0" spc="-30"/>
              <a:t> </a:t>
            </a:r>
            <a:r>
              <a:rPr dirty="0"/>
              <a:t>et</a:t>
            </a:r>
            <a:r>
              <a:rPr dirty="0" spc="-25"/>
              <a:t> </a:t>
            </a:r>
            <a:r>
              <a:rPr dirty="0"/>
              <a:t>al.</a:t>
            </a:r>
            <a:r>
              <a:rPr dirty="0" spc="-30"/>
              <a:t> </a:t>
            </a:r>
            <a:r>
              <a:rPr dirty="0"/>
              <a:t>(2018).</a:t>
            </a:r>
            <a:r>
              <a:rPr dirty="0" spc="-25"/>
              <a:t> </a:t>
            </a:r>
            <a:r>
              <a:rPr dirty="0"/>
              <a:t>"Treepedia</a:t>
            </a:r>
            <a:r>
              <a:rPr dirty="0" spc="-30"/>
              <a:t> </a:t>
            </a:r>
            <a:r>
              <a:rPr dirty="0"/>
              <a:t>2.0:</a:t>
            </a:r>
            <a:r>
              <a:rPr dirty="0" spc="-25"/>
              <a:t> </a:t>
            </a:r>
            <a:r>
              <a:rPr dirty="0"/>
              <a:t>Applying</a:t>
            </a:r>
            <a:r>
              <a:rPr dirty="0" spc="-30"/>
              <a:t> </a:t>
            </a:r>
            <a:r>
              <a:rPr dirty="0"/>
              <a:t>Deep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 spc="-10"/>
              <a:t>Large-</a:t>
            </a:r>
            <a:r>
              <a:rPr dirty="0"/>
              <a:t>Scale</a:t>
            </a:r>
            <a:r>
              <a:rPr dirty="0" spc="-30"/>
              <a:t> </a:t>
            </a:r>
            <a:r>
              <a:rPr dirty="0"/>
              <a:t>Quantification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Urban</a:t>
            </a:r>
            <a:r>
              <a:rPr dirty="0" spc="-25"/>
              <a:t> </a:t>
            </a:r>
            <a:r>
              <a:rPr dirty="0"/>
              <a:t>Tree</a:t>
            </a:r>
            <a:r>
              <a:rPr dirty="0" spc="-30"/>
              <a:t> </a:t>
            </a:r>
            <a:r>
              <a:rPr dirty="0"/>
              <a:t>Cover."</a:t>
            </a:r>
            <a:r>
              <a:rPr dirty="0" spc="-25"/>
              <a:t> </a:t>
            </a:r>
            <a:r>
              <a:rPr dirty="0" spc="-20"/>
              <a:t>KDD.</a:t>
            </a:r>
          </a:p>
          <a:p>
            <a:pPr marL="167640" marR="587375" indent="-155575">
              <a:lnSpc>
                <a:spcPct val="134600"/>
              </a:lnSpc>
              <a:spcBef>
                <a:spcPts val="735"/>
              </a:spcBef>
            </a:pPr>
            <a:r>
              <a:rPr dirty="0"/>
              <a:t>1.Gitelson,</a:t>
            </a:r>
            <a:r>
              <a:rPr dirty="0" spc="-30"/>
              <a:t> </a:t>
            </a:r>
            <a:r>
              <a:rPr dirty="0"/>
              <a:t>A.</a:t>
            </a:r>
            <a:r>
              <a:rPr dirty="0" spc="-30"/>
              <a:t> </a:t>
            </a:r>
            <a:r>
              <a:rPr dirty="0"/>
              <a:t>A.,</a:t>
            </a:r>
            <a:r>
              <a:rPr dirty="0" spc="-30"/>
              <a:t> </a:t>
            </a:r>
            <a:r>
              <a:rPr dirty="0"/>
              <a:t>et</a:t>
            </a:r>
            <a:r>
              <a:rPr dirty="0" spc="-25"/>
              <a:t> </a:t>
            </a:r>
            <a:r>
              <a:rPr dirty="0"/>
              <a:t>al.</a:t>
            </a:r>
            <a:r>
              <a:rPr dirty="0" spc="-30"/>
              <a:t> </a:t>
            </a:r>
            <a:r>
              <a:rPr dirty="0"/>
              <a:t>(2002).</a:t>
            </a:r>
            <a:r>
              <a:rPr dirty="0" spc="-30"/>
              <a:t> </a:t>
            </a:r>
            <a:r>
              <a:rPr dirty="0"/>
              <a:t>"Vegetation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Soil</a:t>
            </a:r>
            <a:r>
              <a:rPr dirty="0" spc="-30"/>
              <a:t> </a:t>
            </a:r>
            <a:r>
              <a:rPr dirty="0"/>
              <a:t>Lines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/>
              <a:t>Visible</a:t>
            </a:r>
            <a:r>
              <a:rPr dirty="0" spc="-30"/>
              <a:t> </a:t>
            </a:r>
            <a:r>
              <a:rPr dirty="0"/>
              <a:t>Spectral</a:t>
            </a:r>
            <a:r>
              <a:rPr dirty="0" spc="-25"/>
              <a:t> </a:t>
            </a:r>
            <a:r>
              <a:rPr dirty="0"/>
              <a:t>Space: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Concept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Technique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30"/>
              <a:t> </a:t>
            </a:r>
            <a:r>
              <a:rPr dirty="0"/>
              <a:t>Remote</a:t>
            </a:r>
            <a:r>
              <a:rPr dirty="0" spc="-25"/>
              <a:t> </a:t>
            </a:r>
            <a:r>
              <a:rPr dirty="0"/>
              <a:t>Estimation</a:t>
            </a:r>
            <a:r>
              <a:rPr dirty="0" spc="-30"/>
              <a:t> </a:t>
            </a:r>
            <a:r>
              <a:rPr dirty="0" spc="-25"/>
              <a:t>of </a:t>
            </a:r>
            <a:r>
              <a:rPr dirty="0"/>
              <a:t>Vegetation</a:t>
            </a:r>
            <a:r>
              <a:rPr dirty="0" spc="-50"/>
              <a:t> </a:t>
            </a:r>
            <a:r>
              <a:rPr dirty="0"/>
              <a:t>Fraction."</a:t>
            </a:r>
            <a:r>
              <a:rPr dirty="0" spc="-50"/>
              <a:t> </a:t>
            </a:r>
            <a:r>
              <a:rPr dirty="0"/>
              <a:t>International</a:t>
            </a:r>
            <a:r>
              <a:rPr dirty="0" spc="-50"/>
              <a:t> </a:t>
            </a:r>
            <a:r>
              <a:rPr dirty="0"/>
              <a:t>Journal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Remote</a:t>
            </a:r>
            <a:r>
              <a:rPr dirty="0" spc="-50"/>
              <a:t> </a:t>
            </a:r>
            <a:r>
              <a:rPr dirty="0" spc="-10"/>
              <a:t>Sensing.</a:t>
            </a: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/>
              <a:t>1.Harlan,</a:t>
            </a:r>
            <a:r>
              <a:rPr dirty="0" spc="-35"/>
              <a:t> </a:t>
            </a:r>
            <a:r>
              <a:rPr dirty="0"/>
              <a:t>S.</a:t>
            </a:r>
            <a:r>
              <a:rPr dirty="0" spc="-35"/>
              <a:t> </a:t>
            </a:r>
            <a:r>
              <a:rPr dirty="0"/>
              <a:t>L.,</a:t>
            </a:r>
            <a:r>
              <a:rPr dirty="0" spc="-35"/>
              <a:t> </a:t>
            </a:r>
            <a:r>
              <a:rPr dirty="0"/>
              <a:t>et</a:t>
            </a:r>
            <a:r>
              <a:rPr dirty="0" spc="-30"/>
              <a:t> </a:t>
            </a:r>
            <a:r>
              <a:rPr dirty="0"/>
              <a:t>al.</a:t>
            </a:r>
            <a:r>
              <a:rPr dirty="0" spc="-35"/>
              <a:t> </a:t>
            </a:r>
            <a:r>
              <a:rPr dirty="0"/>
              <a:t>(2006).</a:t>
            </a:r>
            <a:r>
              <a:rPr dirty="0" spc="-35"/>
              <a:t> </a:t>
            </a:r>
            <a:r>
              <a:rPr dirty="0"/>
              <a:t>"Neighborhood</a:t>
            </a:r>
            <a:r>
              <a:rPr dirty="0" spc="-30"/>
              <a:t> </a:t>
            </a:r>
            <a:r>
              <a:rPr dirty="0"/>
              <a:t>microclimates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vulnerability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heat</a:t>
            </a:r>
            <a:r>
              <a:rPr dirty="0" spc="-35"/>
              <a:t> </a:t>
            </a:r>
            <a:r>
              <a:rPr dirty="0"/>
              <a:t>stress."</a:t>
            </a:r>
            <a:r>
              <a:rPr dirty="0" spc="-30"/>
              <a:t> </a:t>
            </a:r>
            <a:r>
              <a:rPr dirty="0"/>
              <a:t>Social</a:t>
            </a:r>
            <a:r>
              <a:rPr dirty="0" spc="-35"/>
              <a:t> </a:t>
            </a:r>
            <a:r>
              <a:rPr dirty="0"/>
              <a:t>Science</a:t>
            </a:r>
            <a:r>
              <a:rPr dirty="0" spc="-35"/>
              <a:t> </a:t>
            </a:r>
            <a:r>
              <a:rPr dirty="0"/>
              <a:t>&amp;</a:t>
            </a:r>
            <a:r>
              <a:rPr dirty="0" spc="-30"/>
              <a:t> </a:t>
            </a:r>
            <a:r>
              <a:rPr dirty="0" spc="-10"/>
              <a:t>Medicine.</a:t>
            </a: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dirty="0"/>
              <a:t>1.McPherson,</a:t>
            </a:r>
            <a:r>
              <a:rPr dirty="0" spc="-45"/>
              <a:t> </a:t>
            </a:r>
            <a:r>
              <a:rPr dirty="0"/>
              <a:t>E.</a:t>
            </a:r>
            <a:r>
              <a:rPr dirty="0" spc="-40"/>
              <a:t> </a:t>
            </a:r>
            <a:r>
              <a:rPr dirty="0"/>
              <a:t>G.,</a:t>
            </a:r>
            <a:r>
              <a:rPr dirty="0" spc="-40"/>
              <a:t> </a:t>
            </a:r>
            <a:r>
              <a:rPr dirty="0"/>
              <a:t>et</a:t>
            </a:r>
            <a:r>
              <a:rPr dirty="0" spc="-40"/>
              <a:t> </a:t>
            </a:r>
            <a:r>
              <a:rPr dirty="0"/>
              <a:t>al.</a:t>
            </a:r>
            <a:r>
              <a:rPr dirty="0" spc="-40"/>
              <a:t> </a:t>
            </a:r>
            <a:r>
              <a:rPr dirty="0"/>
              <a:t>(1994).</a:t>
            </a:r>
            <a:r>
              <a:rPr dirty="0" spc="-40"/>
              <a:t> </a:t>
            </a:r>
            <a:r>
              <a:rPr dirty="0"/>
              <a:t>"Chicago's</a:t>
            </a:r>
            <a:r>
              <a:rPr dirty="0" spc="-40"/>
              <a:t> </a:t>
            </a:r>
            <a:r>
              <a:rPr dirty="0"/>
              <a:t>urban</a:t>
            </a:r>
            <a:r>
              <a:rPr dirty="0" spc="-40"/>
              <a:t> </a:t>
            </a:r>
            <a:r>
              <a:rPr dirty="0"/>
              <a:t>forest</a:t>
            </a:r>
            <a:r>
              <a:rPr dirty="0" spc="-40"/>
              <a:t> </a:t>
            </a:r>
            <a:r>
              <a:rPr dirty="0"/>
              <a:t>ecosystem."</a:t>
            </a:r>
            <a:r>
              <a:rPr dirty="0" spc="-40"/>
              <a:t> </a:t>
            </a:r>
            <a:r>
              <a:rPr dirty="0"/>
              <a:t>General</a:t>
            </a:r>
            <a:r>
              <a:rPr dirty="0" spc="-40"/>
              <a:t> </a:t>
            </a:r>
            <a:r>
              <a:rPr dirty="0"/>
              <a:t>Technical</a:t>
            </a:r>
            <a:r>
              <a:rPr dirty="0" spc="-40"/>
              <a:t> </a:t>
            </a:r>
            <a:r>
              <a:rPr dirty="0"/>
              <a:t>Report</a:t>
            </a:r>
            <a:r>
              <a:rPr dirty="0" spc="-40"/>
              <a:t> </a:t>
            </a:r>
            <a:r>
              <a:rPr dirty="0" spc="-10"/>
              <a:t>NE-</a:t>
            </a:r>
            <a:r>
              <a:rPr dirty="0"/>
              <a:t>186,</a:t>
            </a:r>
            <a:r>
              <a:rPr dirty="0" spc="-40"/>
              <a:t> </a:t>
            </a:r>
            <a:r>
              <a:rPr dirty="0"/>
              <a:t>U.S.</a:t>
            </a:r>
            <a:r>
              <a:rPr dirty="0" spc="-40"/>
              <a:t> </a:t>
            </a:r>
            <a:r>
              <a:rPr dirty="0"/>
              <a:t>Department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Agriculture.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85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1.Oke,</a:t>
            </a:r>
            <a:r>
              <a:rPr dirty="0" spc="-35"/>
              <a:t> </a:t>
            </a:r>
            <a:r>
              <a:rPr dirty="0"/>
              <a:t>T.</a:t>
            </a:r>
            <a:r>
              <a:rPr dirty="0" spc="-30"/>
              <a:t> </a:t>
            </a:r>
            <a:r>
              <a:rPr dirty="0"/>
              <a:t>R.</a:t>
            </a:r>
            <a:r>
              <a:rPr dirty="0" spc="-30"/>
              <a:t> </a:t>
            </a:r>
            <a:r>
              <a:rPr dirty="0"/>
              <a:t>(1982).</a:t>
            </a:r>
            <a:r>
              <a:rPr dirty="0" spc="-30"/>
              <a:t> </a:t>
            </a:r>
            <a:r>
              <a:rPr dirty="0"/>
              <a:t>"The</a:t>
            </a:r>
            <a:r>
              <a:rPr dirty="0" spc="-30"/>
              <a:t> </a:t>
            </a:r>
            <a:r>
              <a:rPr dirty="0"/>
              <a:t>energetic</a:t>
            </a:r>
            <a:r>
              <a:rPr dirty="0" spc="-35"/>
              <a:t> </a:t>
            </a:r>
            <a:r>
              <a:rPr dirty="0"/>
              <a:t>basis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urban</a:t>
            </a:r>
            <a:r>
              <a:rPr dirty="0" spc="-30"/>
              <a:t> </a:t>
            </a:r>
            <a:r>
              <a:rPr dirty="0"/>
              <a:t>heat</a:t>
            </a:r>
            <a:r>
              <a:rPr dirty="0" spc="-35"/>
              <a:t> </a:t>
            </a:r>
            <a:r>
              <a:rPr dirty="0"/>
              <a:t>island."</a:t>
            </a:r>
            <a:r>
              <a:rPr dirty="0" spc="-30"/>
              <a:t> </a:t>
            </a:r>
            <a:r>
              <a:rPr dirty="0"/>
              <a:t>Quarterly</a:t>
            </a:r>
            <a:r>
              <a:rPr dirty="0" spc="-30"/>
              <a:t> </a:t>
            </a:r>
            <a:r>
              <a:rPr dirty="0"/>
              <a:t>Journal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Royal</a:t>
            </a:r>
            <a:r>
              <a:rPr dirty="0" spc="-30"/>
              <a:t> </a:t>
            </a:r>
            <a:r>
              <a:rPr dirty="0"/>
              <a:t>Meteorological</a:t>
            </a:r>
            <a:r>
              <a:rPr dirty="0" spc="-30"/>
              <a:t> </a:t>
            </a:r>
            <a:r>
              <a:rPr dirty="0" spc="-10"/>
              <a:t>Society.</a:t>
            </a: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dirty="0" spc="-10"/>
              <a:t>1.Santamouris,</a:t>
            </a:r>
            <a:r>
              <a:rPr dirty="0" spc="-30"/>
              <a:t> </a:t>
            </a:r>
            <a:r>
              <a:rPr dirty="0"/>
              <a:t>P.</a:t>
            </a:r>
            <a:r>
              <a:rPr dirty="0" spc="-30"/>
              <a:t> </a:t>
            </a:r>
            <a:r>
              <a:rPr dirty="0"/>
              <a:t>(2014).</a:t>
            </a:r>
            <a:r>
              <a:rPr dirty="0" spc="-30"/>
              <a:t> </a:t>
            </a:r>
            <a:r>
              <a:rPr dirty="0"/>
              <a:t>"Cooling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cities</a:t>
            </a:r>
            <a:r>
              <a:rPr dirty="0" spc="-25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review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reflective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green</a:t>
            </a:r>
            <a:r>
              <a:rPr dirty="0" spc="-30"/>
              <a:t> </a:t>
            </a:r>
            <a:r>
              <a:rPr dirty="0"/>
              <a:t>roof</a:t>
            </a:r>
            <a:r>
              <a:rPr dirty="0" spc="-30"/>
              <a:t> </a:t>
            </a:r>
            <a:r>
              <a:rPr dirty="0"/>
              <a:t>mitigation</a:t>
            </a:r>
            <a:r>
              <a:rPr dirty="0" spc="-30"/>
              <a:t> </a:t>
            </a:r>
            <a:r>
              <a:rPr dirty="0"/>
              <a:t>technologies."</a:t>
            </a:r>
            <a:r>
              <a:rPr dirty="0" spc="-30"/>
              <a:t> </a:t>
            </a:r>
            <a:r>
              <a:rPr dirty="0"/>
              <a:t>Solar</a:t>
            </a:r>
            <a:r>
              <a:rPr dirty="0" spc="-30"/>
              <a:t> </a:t>
            </a:r>
            <a:r>
              <a:rPr dirty="0" spc="-10"/>
              <a:t>Energy.</a:t>
            </a:r>
          </a:p>
          <a:p>
            <a:pPr marL="167640" marR="350520" indent="-155575">
              <a:lnSpc>
                <a:spcPct val="134600"/>
              </a:lnSpc>
              <a:spcBef>
                <a:spcPts val="735"/>
              </a:spcBef>
            </a:pPr>
            <a:r>
              <a:rPr dirty="0"/>
              <a:t>1.Seiferling,</a:t>
            </a:r>
            <a:r>
              <a:rPr dirty="0" spc="-25"/>
              <a:t> </a:t>
            </a:r>
            <a:r>
              <a:rPr dirty="0"/>
              <a:t>I.,</a:t>
            </a:r>
            <a:r>
              <a:rPr dirty="0" spc="-20"/>
              <a:t> </a:t>
            </a:r>
            <a:r>
              <a:rPr dirty="0"/>
              <a:t>Naik,</a:t>
            </a:r>
            <a:r>
              <a:rPr dirty="0" spc="-25"/>
              <a:t> </a:t>
            </a:r>
            <a:r>
              <a:rPr dirty="0"/>
              <a:t>N.,</a:t>
            </a:r>
            <a:r>
              <a:rPr dirty="0" spc="-20"/>
              <a:t> </a:t>
            </a:r>
            <a:r>
              <a:rPr dirty="0"/>
              <a:t>Ratti,</a:t>
            </a:r>
            <a:r>
              <a:rPr dirty="0" spc="-25"/>
              <a:t> </a:t>
            </a:r>
            <a:r>
              <a:rPr dirty="0"/>
              <a:t>C.,</a:t>
            </a:r>
            <a:r>
              <a:rPr dirty="0" spc="-20"/>
              <a:t> </a:t>
            </a:r>
            <a:r>
              <a:rPr dirty="0"/>
              <a:t>&amp;</a:t>
            </a:r>
            <a:r>
              <a:rPr dirty="0" spc="-20"/>
              <a:t> </a:t>
            </a:r>
            <a:r>
              <a:rPr dirty="0"/>
              <a:t>Proulx,</a:t>
            </a:r>
            <a:r>
              <a:rPr dirty="0" spc="-25"/>
              <a:t> </a:t>
            </a:r>
            <a:r>
              <a:rPr dirty="0"/>
              <a:t>R.</a:t>
            </a:r>
            <a:r>
              <a:rPr dirty="0" spc="-20"/>
              <a:t> </a:t>
            </a:r>
            <a:r>
              <a:rPr dirty="0"/>
              <a:t>(2017).</a:t>
            </a:r>
            <a:r>
              <a:rPr dirty="0" spc="-25"/>
              <a:t> </a:t>
            </a:r>
            <a:r>
              <a:rPr dirty="0"/>
              <a:t>"Green</a:t>
            </a:r>
            <a:r>
              <a:rPr dirty="0" spc="-20"/>
              <a:t> </a:t>
            </a:r>
            <a:r>
              <a:rPr dirty="0"/>
              <a:t>streets</a:t>
            </a:r>
            <a:r>
              <a:rPr dirty="0" spc="-25"/>
              <a:t> </a:t>
            </a:r>
            <a:r>
              <a:rPr dirty="0"/>
              <a:t>−</a:t>
            </a:r>
            <a:r>
              <a:rPr dirty="0" spc="-20"/>
              <a:t> </a:t>
            </a:r>
            <a:r>
              <a:rPr dirty="0"/>
              <a:t>Quantifying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mapping</a:t>
            </a:r>
            <a:r>
              <a:rPr dirty="0" spc="-20"/>
              <a:t> </a:t>
            </a:r>
            <a:r>
              <a:rPr dirty="0"/>
              <a:t>urban</a:t>
            </a:r>
            <a:r>
              <a:rPr dirty="0" spc="-25"/>
              <a:t> </a:t>
            </a:r>
            <a:r>
              <a:rPr dirty="0"/>
              <a:t>trees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20"/>
              <a:t> street-</a:t>
            </a:r>
            <a:r>
              <a:rPr dirty="0"/>
              <a:t>level</a:t>
            </a:r>
            <a:r>
              <a:rPr dirty="0" spc="-25"/>
              <a:t> </a:t>
            </a:r>
            <a:r>
              <a:rPr dirty="0"/>
              <a:t>imagery</a:t>
            </a:r>
            <a:r>
              <a:rPr dirty="0" spc="-20"/>
              <a:t> </a:t>
            </a:r>
            <a:r>
              <a:rPr dirty="0" spc="-25"/>
              <a:t>and </a:t>
            </a:r>
            <a:r>
              <a:rPr dirty="0"/>
              <a:t>computer</a:t>
            </a:r>
            <a:r>
              <a:rPr dirty="0" spc="-45"/>
              <a:t> </a:t>
            </a:r>
            <a:r>
              <a:rPr dirty="0"/>
              <a:t>vision."</a:t>
            </a:r>
            <a:r>
              <a:rPr dirty="0" spc="-40"/>
              <a:t> </a:t>
            </a:r>
            <a:r>
              <a:rPr dirty="0"/>
              <a:t>Landscape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Urban</a:t>
            </a:r>
            <a:r>
              <a:rPr dirty="0" spc="-45"/>
              <a:t> </a:t>
            </a:r>
            <a:r>
              <a:rPr dirty="0" spc="-10"/>
              <a:t>Planning.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159" y="212782"/>
            <a:ext cx="5182069" cy="531086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99899" y="212782"/>
            <a:ext cx="6017844" cy="531086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13628" y="212782"/>
            <a:ext cx="4368177" cy="531086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7159" y="5616930"/>
            <a:ext cx="4225683" cy="439435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48758" y="5616930"/>
            <a:ext cx="6868985" cy="194837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073242" y="5616930"/>
            <a:ext cx="4248962" cy="41349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8568" y="5461203"/>
            <a:ext cx="8597087" cy="322390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7990" y="4374362"/>
            <a:ext cx="8208302" cy="488393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002847" y="2164829"/>
            <a:ext cx="6707505" cy="383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b="1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dirty="0" sz="235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FFFFFF"/>
                </a:solidFill>
                <a:latin typeface="Arial"/>
                <a:cs typeface="Arial"/>
              </a:rPr>
              <a:t>Outcome:</a:t>
            </a:r>
            <a:r>
              <a:rPr dirty="0" sz="235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Paper</a:t>
            </a:r>
            <a:r>
              <a:rPr dirty="0" sz="235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submitted</a:t>
            </a:r>
            <a:r>
              <a:rPr dirty="0" sz="235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35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Arial"/>
                <a:cs typeface="Arial"/>
              </a:rPr>
              <a:t>publication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2025-11-05T16:21:41Z</dcterms:created>
  <dcterms:modified xsi:type="dcterms:W3CDTF">2025-11-05T16:21:41Z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2025-11-05T00:00:00Z</vt:filetime>
  </property>
  <property fmtid="{D5CDD505-2E9C-101B-9397-08002B2CF9AE}" pid="3" name="LastSaved">
    <vt:filetime>2025-11-05T00:00:00Z</vt:filetime>
  </property>
  <property fmtid="{D5CDD505-2E9C-101B-9397-08002B2CF9AE}" pid="4" name="Producer">
    <vt:lpwstr>3-Heights(TM) PDF Security Shell 4.8.25.2 (http://www.pdf-tools.com)</vt:lpwstr>
  </property>
</Properties>
</file>